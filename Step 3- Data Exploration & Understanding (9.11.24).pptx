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93" r:id="rId2"/>
    <p:sldId id="370" r:id="rId3"/>
    <p:sldId id="371" r:id="rId4"/>
    <p:sldId id="358" r:id="rId5"/>
    <p:sldId id="356" r:id="rId6"/>
    <p:sldId id="357" r:id="rId7"/>
    <p:sldId id="359" r:id="rId8"/>
    <p:sldId id="360" r:id="rId9"/>
    <p:sldId id="361" r:id="rId10"/>
    <p:sldId id="308" r:id="rId11"/>
    <p:sldId id="369" r:id="rId12"/>
    <p:sldId id="294" r:id="rId13"/>
    <p:sldId id="344" r:id="rId14"/>
    <p:sldId id="345" r:id="rId15"/>
    <p:sldId id="346" r:id="rId16"/>
    <p:sldId id="368" r:id="rId17"/>
    <p:sldId id="347" r:id="rId18"/>
    <p:sldId id="367" r:id="rId19"/>
    <p:sldId id="348" r:id="rId20"/>
    <p:sldId id="366" r:id="rId21"/>
    <p:sldId id="349" r:id="rId22"/>
    <p:sldId id="317" r:id="rId23"/>
    <p:sldId id="297" r:id="rId24"/>
    <p:sldId id="362" r:id="rId25"/>
    <p:sldId id="295" r:id="rId26"/>
    <p:sldId id="363" r:id="rId27"/>
    <p:sldId id="296" r:id="rId28"/>
    <p:sldId id="298" r:id="rId29"/>
    <p:sldId id="364" r:id="rId30"/>
    <p:sldId id="318" r:id="rId31"/>
    <p:sldId id="365" r:id="rId32"/>
    <p:sldId id="299" r:id="rId33"/>
    <p:sldId id="330" r:id="rId34"/>
    <p:sldId id="302" r:id="rId35"/>
    <p:sldId id="300" r:id="rId36"/>
    <p:sldId id="319" r:id="rId37"/>
    <p:sldId id="320" r:id="rId38"/>
    <p:sldId id="327" r:id="rId39"/>
    <p:sldId id="321" r:id="rId40"/>
    <p:sldId id="328" r:id="rId41"/>
    <p:sldId id="331" r:id="rId42"/>
    <p:sldId id="332" r:id="rId43"/>
    <p:sldId id="333" r:id="rId44"/>
    <p:sldId id="322" r:id="rId45"/>
    <p:sldId id="334" r:id="rId46"/>
    <p:sldId id="335" r:id="rId47"/>
    <p:sldId id="342" r:id="rId48"/>
    <p:sldId id="336" r:id="rId49"/>
    <p:sldId id="337" r:id="rId50"/>
    <p:sldId id="338" r:id="rId51"/>
    <p:sldId id="339" r:id="rId52"/>
    <p:sldId id="340" r:id="rId53"/>
    <p:sldId id="341" r:id="rId54"/>
    <p:sldId id="343" r:id="rId55"/>
    <p:sldId id="310" r:id="rId56"/>
    <p:sldId id="301" r:id="rId57"/>
    <p:sldId id="303" r:id="rId58"/>
    <p:sldId id="304" r:id="rId59"/>
    <p:sldId id="329" r:id="rId60"/>
    <p:sldId id="316" r:id="rId61"/>
    <p:sldId id="315" r:id="rId62"/>
    <p:sldId id="313" r:id="rId63"/>
    <p:sldId id="311" r:id="rId64"/>
    <p:sldId id="314" r:id="rId65"/>
    <p:sldId id="312" r:id="rId66"/>
    <p:sldId id="323" r:id="rId67"/>
    <p:sldId id="324" r:id="rId68"/>
    <p:sldId id="326" r:id="rId69"/>
    <p:sldId id="325" r:id="rId70"/>
    <p:sldId id="355" r:id="rId71"/>
    <p:sldId id="350" r:id="rId72"/>
    <p:sldId id="351" r:id="rId73"/>
    <p:sldId id="352" r:id="rId74"/>
    <p:sldId id="353" r:id="rId75"/>
    <p:sldId id="354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35"/>
    <p:restoredTop sz="96301"/>
  </p:normalViewPr>
  <p:slideViewPr>
    <p:cSldViewPr snapToGrid="0">
      <p:cViewPr varScale="1">
        <p:scale>
          <a:sx n="81" d="100"/>
          <a:sy n="81" d="100"/>
        </p:scale>
        <p:origin x="72" y="4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m Sachin Joshi (Student)" userId="19a3c664-8f56-4aa2-8e6c-37968ccf759d" providerId="ADAL" clId="{7332D2F7-EEC2-48E9-B805-7DFF7782BFAB}"/>
    <pc:docChg chg="modSld">
      <pc:chgData name="Soham Sachin Joshi (Student)" userId="19a3c664-8f56-4aa2-8e6c-37968ccf759d" providerId="ADAL" clId="{7332D2F7-EEC2-48E9-B805-7DFF7782BFAB}" dt="2024-09-18T23:20:41.188" v="2" actId="1076"/>
      <pc:docMkLst>
        <pc:docMk/>
      </pc:docMkLst>
      <pc:sldChg chg="modSp mod">
        <pc:chgData name="Soham Sachin Joshi (Student)" userId="19a3c664-8f56-4aa2-8e6c-37968ccf759d" providerId="ADAL" clId="{7332D2F7-EEC2-48E9-B805-7DFF7782BFAB}" dt="2024-09-18T23:20:41.188" v="2" actId="1076"/>
        <pc:sldMkLst>
          <pc:docMk/>
          <pc:sldMk cId="1332801085" sldId="351"/>
        </pc:sldMkLst>
        <pc:picChg chg="mod">
          <ac:chgData name="Soham Sachin Joshi (Student)" userId="19a3c664-8f56-4aa2-8e6c-37968ccf759d" providerId="ADAL" clId="{7332D2F7-EEC2-48E9-B805-7DFF7782BFAB}" dt="2024-09-18T23:20:41.188" v="2" actId="1076"/>
          <ac:picMkLst>
            <pc:docMk/>
            <pc:sldMk cId="1332801085" sldId="351"/>
            <ac:picMk id="3" creationId="{B2AF6239-01AC-CFEF-E13B-FD7CDADBDE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3F8FE-858E-D146-A7D1-4F2DE40928CE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97E6D-DF46-6E41-9B57-D579EC824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0D2CF-4A6D-75F0-05DE-09DC4FA30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66AE88-223B-EC5E-D116-0E88E291E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30CB2-8991-B0C1-5879-9B4F3823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286E-905D-5B44-A83C-69FD12329DA1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6176C-AC64-5F8B-B8B1-768C94A0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98182-3220-C93A-483C-C651CB46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7-6FFE-B946-BEB5-8ADDC723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2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B044E-42D5-C6AA-D948-11B6A4FF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FA775-3AF3-59FB-A77D-4906824EB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2FF5B-4DF8-06A4-57B3-4700F105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286E-905D-5B44-A83C-69FD12329DA1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44BE6-EDFA-3AB1-BEF1-E936ED648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A75C5-8BE0-3F02-344F-72626723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7-6FFE-B946-BEB5-8ADDC723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54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BE95C-4CB3-CFD1-DE8A-2EE0563D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D9C33-E8D2-E2E7-E79D-46EA6C289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C6A76-77A8-AC45-C7AB-56E2DAEAE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286E-905D-5B44-A83C-69FD12329DA1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FA5B7-2B0A-699B-10D2-0109510D1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A62C3-EAFD-CB13-E165-B537F877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7-6FFE-B946-BEB5-8ADDC723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21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178A-C7AA-AFE8-F0F7-83D7256B3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5EA6D-195A-AACE-F963-960ABC8C7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BCF82-F412-BBA7-D14D-E53F7F3A7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B0CF6-1C35-0A11-C27C-91D6A2FB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286E-905D-5B44-A83C-69FD12329DA1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12A3B-91C4-35A9-A10A-8F102EBD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2CCF7-EE06-60BB-1AD0-A7A67497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7-6FFE-B946-BEB5-8ADDC723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9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EB0EB-6620-BF89-61D4-61C9D2E88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18868-1812-A623-144E-01A2B8F3C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878FE-B2FA-5815-C9FE-3F1401E00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F3D01-8265-D493-EABA-C9C916377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012D4-32C4-6A7E-B360-238FFCA014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092EC5-8BD2-41FB-B35F-673C2D4FB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286E-905D-5B44-A83C-69FD12329DA1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FB890C-B1AF-FF4E-7C44-68062BB3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12A478-B6D9-5454-8E05-5DAB84E07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7-6FFE-B946-BEB5-8ADDC723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5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2F4A-D2E2-13D8-67BF-E5FCC819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83CC55-EB14-A53E-ADFC-9B621E920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286E-905D-5B44-A83C-69FD12329DA1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8A079A-BBB0-2132-95BA-720A625C0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32426-01B8-506B-5A0A-420A2876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7-6FFE-B946-BEB5-8ADDC723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2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285ED6-A71B-6EEF-B05D-A7F4151F1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286E-905D-5B44-A83C-69FD12329DA1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2129B-1A6F-1FA7-57D1-DF46FD7F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A25BA-71A6-9CA8-D5EB-2431BFC1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7-6FFE-B946-BEB5-8ADDC723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6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C0E15-8DE7-BA1F-B013-B39072E2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64184-38C0-C57D-B95D-8FE2DE5F7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FD611-E2E2-C243-1AAD-715DC2EDB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D1E19-7873-9EA9-ED70-05E656A12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286E-905D-5B44-A83C-69FD12329DA1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51E69-2F31-36BA-092E-29903EC4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AA282-3488-B19B-44B3-4DA8D9117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7-6FFE-B946-BEB5-8ADDC723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5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08F3-A8E7-69AC-A174-7EE3091F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38FA0-8C23-F707-2C05-BE3F30C64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613D3-1C71-4790-8EB5-4F9839BB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6F785-3460-44E3-2892-D9EF4DF0D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286E-905D-5B44-A83C-69FD12329DA1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11A08-93FB-4127-E640-AEB64C4D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BF29-C5B7-65AD-796E-11AF7A9FA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7-6FFE-B946-BEB5-8ADDC723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0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AFA8-9805-3459-590A-38D18229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7E2F9-BA3D-052A-C65E-CD4C15B0F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F8C17-C37C-BB01-46C3-91FCB35B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286E-905D-5B44-A83C-69FD12329DA1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EF930-EDF7-C1B7-9C99-77C8E1C6E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C6315-91D6-6791-440D-73592D73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7-6FFE-B946-BEB5-8ADDC723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6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9D9E4-291B-6DC3-60DA-05D5BFEDF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CD13B-EA18-9517-61C7-01E6BCA1F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B20C9-6723-84E0-67A4-F32DAF40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286E-905D-5B44-A83C-69FD12329DA1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95DEB-5A83-BBEC-521F-333C637B7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ACE61-67BF-BFBD-AF27-DD1D21E3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7-6FFE-B946-BEB5-8ADDC723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32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4B155B-9E66-8957-178A-70E6EBB8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0F365-AC66-B920-4754-E4A78C51F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9BA93-55FA-ED63-B66A-DFEE51AB4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A286E-905D-5B44-A83C-69FD12329DA1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2F9E1-032B-DE76-B6E9-5B81B12E2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55016-FEF0-6595-68D9-8A9C281D5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DBCE7-6FFE-B946-BEB5-8ADDC723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34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ECC1F-1645-CBB1-D987-683DE7C056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Step 3: Data Exploration and Understanding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A64A0-1BA9-ABBC-9D1D-7ECD93A4BE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CSE475 - Foundations of Machine Learning</a:t>
            </a:r>
          </a:p>
          <a:p>
            <a:pPr algn="l"/>
            <a:r>
              <a:rPr lang="en-US" dirty="0"/>
              <a:t>Part 1 - Machine Learning Basics </a:t>
            </a:r>
          </a:p>
          <a:p>
            <a:pPr algn="l"/>
            <a:r>
              <a:rPr lang="en-US" dirty="0"/>
              <a:t>Dr. Robert Atkinson</a:t>
            </a:r>
          </a:p>
        </p:txBody>
      </p:sp>
    </p:spTree>
    <p:extLst>
      <p:ext uri="{BB962C8B-B14F-4D97-AF65-F5344CB8AC3E}">
        <p14:creationId xmlns:p14="http://schemas.microsoft.com/office/powerpoint/2010/main" val="937760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421A-45F1-2CB6-BE24-5CCEFE4A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7FB1F-B2F0-74B1-F669-523B3E890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Lecture Dataset (In-Class Example): Palmer Penguins Dataset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Why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It’s a small, clean dataset with a balance of numerical and categorical features, ideal for introducing concepts like data exploration, univariate and bivariate analysis.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Suitable for live demonstrations during lectures.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Features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Species, island, bill length, bill depth, flipper length, body mass, sex, etc.</a:t>
            </a:r>
          </a:p>
          <a:p>
            <a:pPr algn="l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In-Class Activity Dataset: Iris Dataset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Why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It’s a classic dataset used for beginner-level machine learning, with fewer features and a balanced number of classes, ideal for practicing EDA and basic classification.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Perfect for hands-on practice in bivariate analysis (scatter plots, correlation) and summary statistics.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Features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Sepal length, sepal width, petal length, petal width, species (classification target).</a:t>
            </a:r>
          </a:p>
          <a:p>
            <a:pPr lvl="1"/>
            <a:endParaRPr lang="en-US" sz="20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01028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421A-45F1-2CB6-BE24-5CCEFE4A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7FB1F-B2F0-74B1-F669-523B3E890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Take-Home Assignment Dataset: Titanic Dataset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Why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It’s a more complex dataset with missing values, a mix of categorical and numerical data, and plenty of opportunities to apply advanced EDA techniques.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Ideal for take-home assignments, where students can dive deeper into data cleaning, visualization, and basic model building.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Features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Passenger class, age, fare, embarked, survived (target), gender, etc.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1855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84AB-D1A5-2E3D-F4AC-D2CC60936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Approaching ML Syntax vs. Algorithm-Heavy Programming: A Practical Guide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20612-8346-B735-6A26-BF5AA5CCC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63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8AFC-6354-9797-6033-21545561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Focus on Model Application, Not Algorithmic Details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9AB75-71C1-0C62-0BB8-6C978CD57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Goal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Understand how to use pre-built models effectively without worrying about how the algorithms are implemented.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How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Instead of focusing on how algorithms like decision trees or support vector machines work internally, focus 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How to select and apply models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using high-level libraries like scikit-learn.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How to interpret model outputs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like accuracy, precision, and confusion matrices.</a:t>
            </a:r>
          </a:p>
          <a:p>
            <a:pPr algn="l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Example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Instead of focusing on how a support vector machine mathematically creates decision boundaries, learn how to: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Apply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the support vector machine with simple syntax.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Evaluate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its performance using metrics like accuracy or precision.</a:t>
            </a:r>
          </a:p>
          <a:p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Why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In real-world applications, the ability to apply and understand models is more valuable than understanding the inner workings of each algorithm.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73995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BFF4-3F35-1D22-0CCC-5CA9A2B93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Practicality Over Efficiency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41094-CF95-44EB-32D7-021FFC639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Goal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: Focus on applying models to real-world problems quickly, rather than optimizing algorithms.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How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: Learn to use pre-built functions that are optimized for you, and focus on getting results. Experiment with different models and hyperparameters, but don’t worry about manual optimization.</a:t>
            </a:r>
          </a:p>
          <a:p>
            <a:pPr algn="l"/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Example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: Instead of worrying about optimizing how k-nearest neighbors runs, focus on: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How to use k-nearest neighbors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to classify data.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How to compare different models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quickly to see which performs best for your dataset.</a:t>
            </a:r>
          </a:p>
          <a:p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Why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: In industry, speed and practicality are key. Being able to apply models efficiently matters more than writing and optimizing algorithms yourself.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9928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2F9A-B04B-7043-DB5A-F84053254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Emphasize Iteration and Experimentation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FE178-47F3-1583-177B-0F83EFE89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Goal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: Quickly experiment with different models and hyperparameters.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How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: Use tools like 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</a:rPr>
              <a:t>GridSearchCV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to easily test multiple models and hyperparameters, and focus on seeing the impact of different configurations.</a:t>
            </a:r>
          </a:p>
          <a:p>
            <a:pPr algn="l"/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Example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: Use 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grid search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 to find the best hyperparameters: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Try different combinations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of hyperparameters and models.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Observe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how each model performs without needing to manually implement or optimize them.</a:t>
            </a:r>
          </a:p>
          <a:p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Why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: Machine learning often involves testing and improving models. Experimenting with different options helps you learn faster.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3461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5635-B0B2-0F72-3FFB-709D94D00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Focus on the Entire ML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BEBDD-2214-3392-8366-5D70E8660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Goal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Master the full workflow from preprocessing data to evaluating and deploying models.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How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Instead of focusing on how algorithms work, focus on the workflow: data preprocessing, model selection, training, evaluation, and improvement.</a:t>
            </a:r>
          </a:p>
          <a:p>
            <a:pPr algn="l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Example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Learn how to: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Preprocess data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(e.g., handling missing values, scaling features) to improve model performance.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Interpret results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using confusion matrices and classification reports to understand model accuracy.</a:t>
            </a:r>
          </a:p>
          <a:p>
            <a:pPr algn="l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Why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In practical machine learning, applying models and interpreting results are critical. Mastering the workflow ensures you’re ready to work on real-world projects.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830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75AF5-DE37-D614-7FA9-3A8682C68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Understand That Algorithms Are Abstracted Away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4F534-0738-FFCD-7BA6-87660E6F3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Goal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: Recognize that pre-built functions take care of the algorithmic details for you.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How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: When you use functions like fit() or predict(), the library handles all the algorithmic steps. Focus on applying the model rather than writing the algorithm yourself.</a:t>
            </a:r>
          </a:p>
          <a:p>
            <a:pPr algn="l"/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Example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: Instead of writing a logistic regression algorithm from scratch, learn how to: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Apply logistic regression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using a library function.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Evaluate the model’s performance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based on outputs like accuracy or AUC score.</a:t>
            </a:r>
          </a:p>
          <a:p>
            <a:pPr algn="l"/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Why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: This approach allows you to focus on solving problems without getting bogged down in algorithm implementation.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6210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6E72-5C02-E4CF-9394-3508E3F5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Workflow</a:t>
            </a:r>
            <a:br>
              <a:rPr lang="en-US" dirty="0"/>
            </a:br>
            <a:r>
              <a:rPr lang="en-US" dirty="0"/>
              <a:t>Step 3: Data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Exploration and Understanding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1E00E-782D-D305-E798-3690DA6E9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99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24441D-1362-A835-CCF8-EBFE654C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Preliminary Setup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17E9C2-BEEC-1A28-3DDB-EAE7DD69A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Import Libraries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This includes importing essential libraries like </a:t>
            </a:r>
            <a:r>
              <a:rPr lang="en-US" dirty="0"/>
              <a:t>pandas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n-US" dirty="0"/>
              <a:t>matplotlib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and </a:t>
            </a:r>
            <a:r>
              <a:rPr lang="en-US" dirty="0"/>
              <a:t>seaborn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for EDA.</a:t>
            </a:r>
          </a:p>
          <a:p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457200" lvl="1" indent="0">
              <a:buNone/>
            </a:pPr>
            <a:r>
              <a:rPr lang="en-US" dirty="0"/>
              <a:t># Step 1: Import necessary libraries and load the dataset</a:t>
            </a:r>
          </a:p>
          <a:p>
            <a:pPr marL="457200" lvl="1" indent="0">
              <a:buNone/>
            </a:pPr>
            <a:r>
              <a:rPr lang="en-US" dirty="0"/>
              <a:t>import pandas as pd</a:t>
            </a:r>
          </a:p>
          <a:p>
            <a:pPr marL="457200" lvl="1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12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EF7AB-97E5-8C1A-58AB-B63C8D41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Loading Data with 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read_csv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30502-330D-945A-F9BA-FAFAF9BD4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Load Data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This involves loading the dataset into a Pandas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(</a:t>
            </a:r>
            <a:r>
              <a:rPr lang="en-US" dirty="0" err="1"/>
              <a:t>df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), whether from a local file (e.g., CSV) or an online source.</a:t>
            </a:r>
            <a:endParaRPr lang="en-US" sz="2800" b="1" dirty="0"/>
          </a:p>
          <a:p>
            <a:r>
              <a:rPr lang="en-US" sz="2800" b="1" dirty="0"/>
              <a:t>Syntax: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df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pd.read_csv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('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file.csv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')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Reads a CSV file and stores it in a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(a table-like data structure) called </a:t>
            </a:r>
            <a:r>
              <a:rPr lang="en-US" dirty="0" err="1"/>
              <a:t>df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You can use this for structured data stored in CSV files.</a:t>
            </a:r>
          </a:p>
          <a:p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457200" lvl="1" indent="0">
              <a:buNone/>
            </a:pPr>
            <a:r>
              <a:rPr lang="en-US" dirty="0"/>
              <a:t># Load dataset (example: Titanic dataset)</a:t>
            </a:r>
          </a:p>
          <a:p>
            <a:pPr marL="457200" lvl="1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sns.load_dataset</a:t>
            </a:r>
            <a:r>
              <a:rPr lang="en-US" dirty="0"/>
              <a:t>('titanic')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083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70AF7B-0A01-D888-A2CF-B7609119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Steps for EDA in the Understanding Stage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9117104-3F5C-6A9F-4453-2208912BB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Overview of Data (Initial Exploration)</a:t>
            </a:r>
            <a:endParaRPr lang="en-US" sz="2400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Univariate Analysis (Understanding Individual Variables)</a:t>
            </a:r>
            <a:endParaRPr lang="en-US" sz="200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Includes identifying Missing Data and Outliers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Bivariate Analysis (Exploring Relationships Between Pairs of Variables)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Multivariate Analysis (Exploring Relationships Among Multiple Variables)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344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96B8C-8A92-E1C3-04B3-13A90FCB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Overview of Data (Initial Exploration)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846FA-A246-84CB-8601-40955E13E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/>
            <a:r>
              <a:rPr lang="en-US" sz="2400" b="1" dirty="0"/>
              <a:t>Goal</a:t>
            </a:r>
            <a:r>
              <a:rPr lang="en-US" sz="2400" dirty="0"/>
              <a:t>: Get a broad understanding of the dataset’s structure, dimensions, and content.</a:t>
            </a:r>
          </a:p>
          <a:p>
            <a:pPr algn="l"/>
            <a:r>
              <a:rPr lang="en-US" sz="2400" b="1" dirty="0"/>
              <a:t>Actions</a:t>
            </a:r>
            <a:r>
              <a:rPr lang="en-US" sz="2400" dirty="0"/>
              <a:t>: Inspect data types, preview rows, check missing values, and count unique values.</a:t>
            </a:r>
          </a:p>
          <a:p>
            <a:pPr algn="l"/>
            <a:r>
              <a:rPr lang="en-US" sz="2400" b="1" dirty="0"/>
              <a:t>Key Question</a:t>
            </a:r>
            <a:r>
              <a:rPr lang="en-US" sz="2400" dirty="0"/>
              <a:t>: What does the dataset look like, and how is it structured?</a:t>
            </a:r>
          </a:p>
          <a:p>
            <a:pPr algn="l"/>
            <a:r>
              <a:rPr lang="en-US" sz="2400" b="1" dirty="0"/>
              <a:t>Descriptive Statistics</a:t>
            </a:r>
            <a:r>
              <a:rPr lang="en-US" sz="2400" dirty="0"/>
              <a:t>: Data types, non-null counts, summary statistics for numeric columns (mean, min, max), unique value counts for categorical columns.</a:t>
            </a:r>
          </a:p>
          <a:p>
            <a:pPr algn="l"/>
            <a:r>
              <a:rPr lang="en-US" sz="2400" b="1" dirty="0"/>
              <a:t>Data Visualizations</a:t>
            </a:r>
            <a:r>
              <a:rPr lang="en-US" sz="2400" dirty="0"/>
              <a:t>: Typically none (basic inspection using head function).</a:t>
            </a:r>
          </a:p>
        </p:txBody>
      </p:sp>
    </p:spTree>
    <p:extLst>
      <p:ext uri="{BB962C8B-B14F-4D97-AF65-F5344CB8AC3E}">
        <p14:creationId xmlns:p14="http://schemas.microsoft.com/office/powerpoint/2010/main" val="3551666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3EF6-30F7-81D1-F92B-933FD0689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Univariate Analysis (Understanding Individual Variables)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9C11D-49B6-73ED-597A-78BB5E28E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Goal</a:t>
            </a:r>
            <a:r>
              <a:rPr lang="en-US" sz="2400" dirty="0"/>
              <a:t>: Explore the distribution and characteristics of each individual variable.</a:t>
            </a:r>
          </a:p>
          <a:p>
            <a:r>
              <a:rPr lang="en-US" sz="2400" b="1" dirty="0"/>
              <a:t>Actions</a:t>
            </a:r>
            <a:r>
              <a:rPr lang="en-US" sz="2400" dirty="0"/>
              <a:t>: Summarize statistics, check for outliers, skewness, and kurtosis, and visualize distributions.</a:t>
            </a:r>
          </a:p>
          <a:p>
            <a:r>
              <a:rPr lang="en-US" sz="2400" b="1" dirty="0"/>
              <a:t>Key Question</a:t>
            </a:r>
            <a:r>
              <a:rPr lang="en-US" sz="2400" dirty="0"/>
              <a:t>: What are the key characteristics of each variable?</a:t>
            </a:r>
          </a:p>
          <a:p>
            <a:r>
              <a:rPr lang="en-US" sz="2400" b="1" dirty="0"/>
              <a:t>Descriptive Statistics</a:t>
            </a:r>
            <a:r>
              <a:rPr lang="en-US" sz="2400" dirty="0"/>
              <a:t>: Mean, median, mode, standard deviation, min/max values, skewness, kurtosis.</a:t>
            </a:r>
          </a:p>
          <a:p>
            <a:r>
              <a:rPr lang="en-US" sz="2400" b="1" dirty="0"/>
              <a:t>Data Visualizations</a:t>
            </a:r>
            <a:r>
              <a:rPr lang="en-US" sz="2400" dirty="0"/>
              <a:t>: Histograms, box plots, bar charts, cumulative plots.</a:t>
            </a:r>
          </a:p>
        </p:txBody>
      </p:sp>
    </p:spTree>
    <p:extLst>
      <p:ext uri="{BB962C8B-B14F-4D97-AF65-F5344CB8AC3E}">
        <p14:creationId xmlns:p14="http://schemas.microsoft.com/office/powerpoint/2010/main" val="432125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3CD2-C076-18DB-E7C7-DDBC1F45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A4AA8-33C7-C91A-A0E0-5258E302B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Outliers</a:t>
            </a:r>
            <a:r>
              <a:rPr lang="en-US" dirty="0"/>
              <a:t>: Unusual values can distort the analysis or indicate data entry errors.</a:t>
            </a:r>
          </a:p>
          <a:p>
            <a:r>
              <a:rPr lang="en-US" b="1" dirty="0"/>
              <a:t>Skewed Distribution</a:t>
            </a:r>
            <a:r>
              <a:rPr lang="en-US" dirty="0"/>
              <a:t>: Highly skewed data may require transformations or special handling for models.</a:t>
            </a:r>
          </a:p>
          <a:p>
            <a:r>
              <a:rPr lang="en-US" b="1" dirty="0"/>
              <a:t>Missing Data</a:t>
            </a:r>
            <a:r>
              <a:rPr lang="en-US" dirty="0"/>
              <a:t>: Univariate analysis often reveals missing values, which can affect the integrity of the dataset.</a:t>
            </a:r>
          </a:p>
          <a:p>
            <a:r>
              <a:rPr lang="en-US" b="1" dirty="0"/>
              <a:t>Non-Informative Features</a:t>
            </a:r>
            <a:r>
              <a:rPr lang="en-US" dirty="0"/>
              <a:t>: Features with constant values or very little variance may not be useful for analysis and may be removed.</a:t>
            </a:r>
          </a:p>
        </p:txBody>
      </p:sp>
    </p:spTree>
    <p:extLst>
      <p:ext uri="{BB962C8B-B14F-4D97-AF65-F5344CB8AC3E}">
        <p14:creationId xmlns:p14="http://schemas.microsoft.com/office/powerpoint/2010/main" val="1386544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A7344-A7E1-9F65-E7B7-75253F9F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Bivariate Analysis (Exploring Relationships Between Pairs of Variables)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A15AA-089F-E212-E04B-6BA891FBD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Goal</a:t>
            </a:r>
            <a:r>
              <a:rPr lang="en-US" sz="2400" dirty="0"/>
              <a:t>: Examine relationships between two variables to detect patterns and correlations.</a:t>
            </a:r>
          </a:p>
          <a:p>
            <a:r>
              <a:rPr lang="en-US" sz="2400" b="1" dirty="0"/>
              <a:t>Actions</a:t>
            </a:r>
            <a:r>
              <a:rPr lang="en-US" sz="2400" dirty="0"/>
              <a:t>: Compute correlations, compare distributions, and visualize relationships.</a:t>
            </a:r>
          </a:p>
          <a:p>
            <a:r>
              <a:rPr lang="en-US" sz="2400" b="1" dirty="0"/>
              <a:t>Key Question</a:t>
            </a:r>
            <a:r>
              <a:rPr lang="en-US" sz="2400" dirty="0"/>
              <a:t>: How do two variables relate to each other?</a:t>
            </a:r>
          </a:p>
          <a:p>
            <a:r>
              <a:rPr lang="en-US" sz="2400" b="1" dirty="0"/>
              <a:t>Descriptive Statistics</a:t>
            </a:r>
            <a:r>
              <a:rPr lang="en-US" sz="2400" dirty="0"/>
              <a:t>: Correlation coefficients, covariance, group statistics (e.g., mean by category).</a:t>
            </a:r>
          </a:p>
          <a:p>
            <a:r>
              <a:rPr lang="en-US" sz="2400" b="1" dirty="0"/>
              <a:t>Data Visualizations</a:t>
            </a:r>
            <a:r>
              <a:rPr lang="en-US" sz="2400" dirty="0"/>
              <a:t>: Scatter plots, box plots, correlation heatmaps, </a:t>
            </a:r>
            <a:r>
              <a:rPr lang="en-US" sz="2400" dirty="0" err="1"/>
              <a:t>hexbin</a:t>
            </a:r>
            <a:r>
              <a:rPr lang="en-US" sz="2400" dirty="0"/>
              <a:t> plots.</a:t>
            </a:r>
          </a:p>
        </p:txBody>
      </p:sp>
    </p:spTree>
    <p:extLst>
      <p:ext uri="{BB962C8B-B14F-4D97-AF65-F5344CB8AC3E}">
        <p14:creationId xmlns:p14="http://schemas.microsoft.com/office/powerpoint/2010/main" val="1764063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ECD2-7D33-1335-BA44-237F5E972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F4BC3-D00A-ADA1-6C73-CF78DF20A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Spurious Correlations</a:t>
            </a:r>
            <a:r>
              <a:rPr lang="en-US" dirty="0"/>
              <a:t>: Sometimes variables appear to have a relationship, but it may be due to random chance or hidden factors.</a:t>
            </a:r>
          </a:p>
          <a:p>
            <a:r>
              <a:rPr lang="en-US" b="1" dirty="0"/>
              <a:t>Confounding Variables</a:t>
            </a:r>
            <a:r>
              <a:rPr lang="en-US" dirty="0"/>
              <a:t>: Relationships between two variables may be influenced by a third, unconsidered variable.</a:t>
            </a:r>
          </a:p>
          <a:p>
            <a:r>
              <a:rPr lang="en-US" b="1" dirty="0"/>
              <a:t>Non-Linearity</a:t>
            </a:r>
            <a:r>
              <a:rPr lang="en-US" dirty="0"/>
              <a:t>: A simple correlation coefficient may not capture non-linear relationships.</a:t>
            </a:r>
          </a:p>
          <a:p>
            <a:r>
              <a:rPr lang="en-US" b="1" dirty="0"/>
              <a:t>Heteroscedasticity</a:t>
            </a:r>
            <a:r>
              <a:rPr lang="en-US" dirty="0"/>
              <a:t>: In scatter plots, the variance of the dependent variable can increase or decrease with the independent variable, indicating potential issues with variability across different values</a:t>
            </a:r>
          </a:p>
        </p:txBody>
      </p:sp>
    </p:spTree>
    <p:extLst>
      <p:ext uri="{BB962C8B-B14F-4D97-AF65-F5344CB8AC3E}">
        <p14:creationId xmlns:p14="http://schemas.microsoft.com/office/powerpoint/2010/main" val="2532261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3E92-75A2-C5DC-F60E-DBDB8CF6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Multivariate Analysis (Exploring Relationships Among Multiple Variables)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71315-31C9-B4AB-B3AC-F5630B36D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Goal</a:t>
            </a:r>
            <a:r>
              <a:rPr lang="en-US" sz="2400" dirty="0"/>
              <a:t>: Analyze interactions among multiple variables to uncover complex patterns.</a:t>
            </a:r>
          </a:p>
          <a:p>
            <a:r>
              <a:rPr lang="en-US" sz="2400" b="1" dirty="0"/>
              <a:t>Actions</a:t>
            </a:r>
            <a:r>
              <a:rPr lang="en-US" sz="2400" dirty="0"/>
              <a:t>: Visualize relationships between multiple variables, compute correlation matrices.</a:t>
            </a:r>
          </a:p>
          <a:p>
            <a:r>
              <a:rPr lang="en-US" sz="2400" b="1" dirty="0"/>
              <a:t>Key Question</a:t>
            </a:r>
            <a:r>
              <a:rPr lang="en-US" sz="2400" dirty="0"/>
              <a:t>: How do multiple variables interact?</a:t>
            </a:r>
          </a:p>
          <a:p>
            <a:r>
              <a:rPr lang="en-US" sz="2400" b="1" dirty="0"/>
              <a:t>Descriptive Statistics</a:t>
            </a:r>
            <a:r>
              <a:rPr lang="en-US" sz="2400" dirty="0"/>
              <a:t>: Correlation matrix, multicollinearity checks, interaction effects.</a:t>
            </a:r>
          </a:p>
          <a:p>
            <a:r>
              <a:rPr lang="en-US" sz="2400" b="1" dirty="0"/>
              <a:t>Data Visualizations</a:t>
            </a:r>
            <a:r>
              <a:rPr lang="en-US" sz="2400" dirty="0"/>
              <a:t>: Pair plots, 3D scatter plots, facet grids, violin plots, grouped bar plots.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20145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79C4-9D34-448A-7D2A-0DED7A610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Multivariate </a:t>
            </a:r>
            <a:r>
              <a:rPr lang="en-US" dirty="0"/>
              <a:t>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050B1-D81E-A501-24CD-567513234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Multicollinearity</a:t>
            </a:r>
            <a:r>
              <a:rPr lang="en-US" dirty="0"/>
              <a:t>: Highly correlated features can cause issues in models like linear regression. We may need to remove or combine variables.</a:t>
            </a:r>
          </a:p>
          <a:p>
            <a:r>
              <a:rPr lang="en-US" b="1" dirty="0"/>
              <a:t>Overfitting</a:t>
            </a:r>
            <a:r>
              <a:rPr lang="en-US" dirty="0"/>
              <a:t>: When adding more features, models may become overly complex, capturing noise rather than the underlying pattern.</a:t>
            </a:r>
          </a:p>
          <a:p>
            <a:r>
              <a:rPr lang="en-US" b="1" dirty="0"/>
              <a:t>Dimensionality</a:t>
            </a:r>
            <a:r>
              <a:rPr lang="en-US" dirty="0"/>
              <a:t>: High-dimensional data can be difficult to visualize and interpret, leading to the "curse of dimensionality." Techniques like PCA or feature selection can help reduce dimensionality.</a:t>
            </a:r>
          </a:p>
          <a:p>
            <a:r>
              <a:rPr lang="en-US" b="1" dirty="0"/>
              <a:t>Interactions</a:t>
            </a:r>
            <a:r>
              <a:rPr lang="en-US" dirty="0"/>
              <a:t>: Without proper exploration, we may miss significant interactions between variables that influence the target.</a:t>
            </a:r>
          </a:p>
        </p:txBody>
      </p:sp>
    </p:spTree>
    <p:extLst>
      <p:ext uri="{BB962C8B-B14F-4D97-AF65-F5344CB8AC3E}">
        <p14:creationId xmlns:p14="http://schemas.microsoft.com/office/powerpoint/2010/main" val="3461582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23459-62CC-5252-B077-887A787F7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EDA Syntax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63C50-8278-AE65-C05C-7B3E65140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19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15CB15-B323-0695-60BF-F0768A93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Checking the Shape of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18EA06-70D1-2E5E-2897-B4CD98151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Syntax</a:t>
            </a:r>
            <a:r>
              <a:rPr lang="en-US" dirty="0"/>
              <a:t>: </a:t>
            </a:r>
            <a:r>
              <a:rPr lang="en-US" dirty="0" err="1"/>
              <a:t>df.shape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Why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Provides a quick overview of the dataset’s size (rows, columns) and helps ensure it matches expectations.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Essential for verifying data after loading or preprocessing, and for model preparation.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</a:rPr>
              <a:t>Example output</a:t>
            </a:r>
            <a:r>
              <a:rPr lang="en-US" dirty="0">
                <a:solidFill>
                  <a:srgbClr val="000000"/>
                </a:solidFill>
              </a:rPr>
              <a:t>: (150, 5)  # 150 rows, 5 columns</a:t>
            </a:r>
          </a:p>
          <a:p>
            <a:pPr marL="0" indent="0" algn="l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73848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EDA2-EA90-B768-6B60-761A3E925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Viewing Data Types with info()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5F141-62A1-D719-19F9-7FED9F79F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Syntax: </a:t>
            </a:r>
            <a:r>
              <a:rPr lang="en-US" dirty="0" err="1"/>
              <a:t>df.info</a:t>
            </a:r>
            <a:r>
              <a:rPr lang="en-US" dirty="0"/>
              <a:t>()</a:t>
            </a:r>
          </a:p>
          <a:p>
            <a:r>
              <a:rPr lang="en-US" b="1" dirty="0"/>
              <a:t>Why</a:t>
            </a:r>
            <a:r>
              <a:rPr lang="en-US" dirty="0"/>
              <a:t>: Provides details on the data types of each column, counts of non-null values, and memory usage.</a:t>
            </a:r>
            <a:endParaRPr lang="en-US" b="1" dirty="0"/>
          </a:p>
          <a:p>
            <a:r>
              <a:rPr lang="en-US" b="1" dirty="0"/>
              <a:t>Use</a:t>
            </a:r>
            <a:r>
              <a:rPr lang="en-US" dirty="0"/>
              <a:t>: Useful for identifying data types (e.g., numerical, categorical) and detecting missing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352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935E6-D18C-BA72-50AF-763F507B4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Example Output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31113-D914-97ED-FA78-218A544036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 err="1"/>
              <a:t>RangeIndex</a:t>
            </a:r>
            <a:r>
              <a:rPr lang="en-US" sz="1600" dirty="0"/>
              <a:t>: 150 entries, 0 to 149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Data columns (total 5 columns):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#   Column  Non-Null Count  </a:t>
            </a:r>
            <a:r>
              <a:rPr lang="en-US" sz="1600" dirty="0" err="1"/>
              <a:t>Dtype</a:t>
            </a:r>
            <a:r>
              <a:rPr lang="en-US" sz="1600" dirty="0"/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---  ------  --------------  -----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0   col1    150 non-null    int64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1   col2    150 non-null    float64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2   col3    140 non-null    object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 err="1"/>
              <a:t>dtypes</a:t>
            </a:r>
            <a:r>
              <a:rPr lang="en-US" sz="1600" dirty="0"/>
              <a:t>: float64(1), int64(1), object(1)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sz="1600" b="1" dirty="0" err="1"/>
              <a:t>RangeIndex</a:t>
            </a:r>
            <a:r>
              <a:rPr lang="en-US" sz="1600" b="1" dirty="0"/>
              <a:t>: 150 entries, 0 to 149</a:t>
            </a:r>
            <a:r>
              <a:rPr lang="en-US" sz="1600" dirty="0"/>
              <a:t>: </a:t>
            </a:r>
          </a:p>
          <a:p>
            <a:pPr lvl="1"/>
            <a:r>
              <a:rPr lang="en-US" sz="1600" dirty="0"/>
              <a:t>The </a:t>
            </a:r>
            <a:r>
              <a:rPr lang="en-US" sz="1600" dirty="0" err="1"/>
              <a:t>DataFrame</a:t>
            </a:r>
            <a:r>
              <a:rPr lang="en-US" sz="1600" dirty="0"/>
              <a:t> contains </a:t>
            </a:r>
            <a:r>
              <a:rPr lang="en-US" sz="1600" b="1" dirty="0"/>
              <a:t>150 rows</a:t>
            </a:r>
            <a:r>
              <a:rPr lang="en-US" sz="1600" dirty="0"/>
              <a:t>. The index ranges from </a:t>
            </a:r>
            <a:r>
              <a:rPr lang="en-US" sz="1600" b="1" dirty="0"/>
              <a:t>0 to 149</a:t>
            </a:r>
            <a:r>
              <a:rPr lang="en-US" sz="1600" dirty="0"/>
              <a:t>.</a:t>
            </a:r>
          </a:p>
          <a:p>
            <a:r>
              <a:rPr lang="en-US" sz="1600" b="1" dirty="0"/>
              <a:t>Data columns (total 5 columns): </a:t>
            </a:r>
          </a:p>
          <a:p>
            <a:pPr lvl="1"/>
            <a:r>
              <a:rPr lang="en-US" sz="1600" dirty="0"/>
              <a:t>The </a:t>
            </a:r>
            <a:r>
              <a:rPr lang="en-US" sz="1600" dirty="0" err="1"/>
              <a:t>DataFrame</a:t>
            </a:r>
            <a:r>
              <a:rPr lang="en-US" sz="1600" dirty="0"/>
              <a:t> has </a:t>
            </a:r>
            <a:r>
              <a:rPr lang="en-US" sz="1600" b="1" dirty="0"/>
              <a:t>5 columns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endParaRPr lang="en-US" sz="16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41576-D435-02C9-A266-33562241B8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600" b="1" dirty="0"/>
              <a:t>Column Details</a:t>
            </a:r>
            <a:r>
              <a:rPr lang="en-US" sz="2600" dirty="0"/>
              <a:t>:</a:t>
            </a:r>
          </a:p>
          <a:p>
            <a:pPr lvl="1"/>
            <a:r>
              <a:rPr lang="en-US" sz="2600" b="1" dirty="0"/>
              <a:t>#</a:t>
            </a:r>
            <a:r>
              <a:rPr lang="en-US" sz="2600" dirty="0"/>
              <a:t>: Column number.</a:t>
            </a:r>
          </a:p>
          <a:p>
            <a:pPr lvl="1"/>
            <a:r>
              <a:rPr lang="en-US" sz="2600" b="1" dirty="0"/>
              <a:t>Column</a:t>
            </a:r>
            <a:r>
              <a:rPr lang="en-US" sz="2600" dirty="0"/>
              <a:t>: Name of each column.</a:t>
            </a:r>
            <a:r>
              <a:rPr lang="en-US" sz="2600" b="1" dirty="0"/>
              <a:t> </a:t>
            </a:r>
          </a:p>
          <a:p>
            <a:pPr lvl="1"/>
            <a:r>
              <a:rPr lang="en-US" sz="2600" b="1" dirty="0"/>
              <a:t>Non-Null Count</a:t>
            </a:r>
            <a:r>
              <a:rPr lang="en-US" sz="2600" dirty="0"/>
              <a:t>: The number of non-missing (non-null) values in the column.</a:t>
            </a:r>
          </a:p>
          <a:p>
            <a:pPr lvl="1"/>
            <a:r>
              <a:rPr lang="en-US" sz="2600" b="1" dirty="0" err="1"/>
              <a:t>Dtype</a:t>
            </a:r>
            <a:r>
              <a:rPr lang="en-US" sz="2600" dirty="0"/>
              <a:t>: The data type of the column.</a:t>
            </a:r>
          </a:p>
          <a:p>
            <a:r>
              <a:rPr lang="en-US" sz="2600" dirty="0"/>
              <a:t>Example:</a:t>
            </a:r>
          </a:p>
          <a:p>
            <a:pPr lvl="1"/>
            <a:r>
              <a:rPr lang="en-US" sz="2600" dirty="0"/>
              <a:t>col1 has </a:t>
            </a:r>
            <a:r>
              <a:rPr lang="en-US" sz="2600" b="1" dirty="0"/>
              <a:t>150 non-null</a:t>
            </a:r>
            <a:r>
              <a:rPr lang="en-US" sz="2600" dirty="0"/>
              <a:t> values and is of type int64 (integer).</a:t>
            </a:r>
          </a:p>
          <a:p>
            <a:pPr lvl="1"/>
            <a:r>
              <a:rPr lang="en-US" sz="2600" dirty="0"/>
              <a:t>col2 has </a:t>
            </a:r>
            <a:r>
              <a:rPr lang="en-US" sz="2600" b="1" dirty="0"/>
              <a:t>150 non-null</a:t>
            </a:r>
            <a:r>
              <a:rPr lang="en-US" sz="2600" dirty="0"/>
              <a:t> values and is of type float64 (floating-point numbers).</a:t>
            </a:r>
          </a:p>
          <a:p>
            <a:pPr lvl="1"/>
            <a:r>
              <a:rPr lang="en-US" sz="2600" dirty="0"/>
              <a:t>col3 has </a:t>
            </a:r>
            <a:r>
              <a:rPr lang="en-US" sz="2600" b="1" dirty="0"/>
              <a:t>140 non-null</a:t>
            </a:r>
            <a:r>
              <a:rPr lang="en-US" sz="2600" dirty="0"/>
              <a:t> values and is of type object (often used for strings or mixed data types).</a:t>
            </a:r>
          </a:p>
          <a:p>
            <a:r>
              <a:rPr lang="en-US" sz="2600" b="1" dirty="0" err="1"/>
              <a:t>dtypes</a:t>
            </a:r>
            <a:r>
              <a:rPr lang="en-US" sz="2600" b="1" dirty="0"/>
              <a:t>: float64(1), int64(1), object(1)</a:t>
            </a:r>
            <a:r>
              <a:rPr lang="en-US" sz="26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Summary of the data types in the </a:t>
            </a:r>
            <a:r>
              <a:rPr lang="en-US" sz="2600" dirty="0" err="1"/>
              <a:t>DataFrame</a:t>
            </a:r>
            <a:r>
              <a:rPr lang="en-US" sz="2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b="1" dirty="0"/>
              <a:t>1 float64 column</a:t>
            </a:r>
            <a:r>
              <a:rPr lang="en-US" sz="2600" dirty="0"/>
              <a:t> (floating-point numbers).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b="1" dirty="0"/>
              <a:t>1 int64 column</a:t>
            </a:r>
            <a:r>
              <a:rPr lang="en-US" sz="2600" dirty="0"/>
              <a:t> (integers).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b="1" dirty="0"/>
              <a:t>1 object column</a:t>
            </a:r>
            <a:r>
              <a:rPr lang="en-US" sz="2600" dirty="0"/>
              <a:t> (strings or mixed data types)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97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EA87-54A1-1B89-BAE3-B7A09C7AA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Displaying the First Few Rows with head()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41022-0A76-017A-C64E-83A0DBB0A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b="1" dirty="0"/>
              <a:t>Syntax:</a:t>
            </a:r>
            <a:r>
              <a:rPr lang="en-US" sz="2800" dirty="0"/>
              <a:t>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df.head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df.head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 provides a quick preview of the first few rows of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allowing you to get an immediate sense of the data’s structure, content, and quality.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Default Behavior: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By default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df.head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 shows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first 5 rows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of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Why: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Quick Inspection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It's useful for inspecting the data at a glance after loading, especially to check if the data was imported correctly.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Verify Structure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It helps ensure that columns and rows are properly aligned and contain expected values.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Catch Early Errors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You can identify immediate data issues, such as misplaced or missing values, column misalignment, or incorrect data types.</a:t>
            </a:r>
          </a:p>
        </p:txBody>
      </p:sp>
    </p:spTree>
    <p:extLst>
      <p:ext uri="{BB962C8B-B14F-4D97-AF65-F5344CB8AC3E}">
        <p14:creationId xmlns:p14="http://schemas.microsoft.com/office/powerpoint/2010/main" val="1482142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B3B5-064C-8636-6006-B98F1CD9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Displaying the First Few Rows with head()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9A0EC-E790-7420-A071-4E9624833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Use:</a:t>
            </a:r>
          </a:p>
          <a:p>
            <a:pPr marL="457200" lvl="1" indent="0">
              <a:buNone/>
            </a:pPr>
            <a:r>
              <a:rPr lang="en-US" dirty="0" err="1"/>
              <a:t>df.head</a:t>
            </a:r>
            <a:r>
              <a:rPr lang="en-US" dirty="0"/>
              <a:t>()  # Displays the first 5 rows by default</a:t>
            </a:r>
          </a:p>
          <a:p>
            <a:pPr marL="457200" lvl="1" indent="0">
              <a:buNone/>
            </a:pPr>
            <a:r>
              <a:rPr lang="en-US" dirty="0" err="1"/>
              <a:t>df.head</a:t>
            </a:r>
            <a:r>
              <a:rPr lang="en-US" dirty="0"/>
              <a:t>(10)  # Displays the first 10 rows</a:t>
            </a:r>
          </a:p>
          <a:p>
            <a:endParaRPr lang="en-US" dirty="0"/>
          </a:p>
          <a:p>
            <a:r>
              <a:rPr lang="en-US" dirty="0"/>
              <a:t>#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Change display settings to show all columns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pd.set_option</a:t>
            </a:r>
            <a:r>
              <a:rPr lang="en-US" dirty="0"/>
              <a:t>('</a:t>
            </a:r>
            <a:r>
              <a:rPr lang="en-US" dirty="0" err="1"/>
              <a:t>display.max_columns</a:t>
            </a:r>
            <a:r>
              <a:rPr lang="en-US" dirty="0"/>
              <a:t>', None)</a:t>
            </a:r>
          </a:p>
          <a:p>
            <a:pPr marL="457200" lvl="1" indent="0">
              <a:buNone/>
            </a:pPr>
            <a:r>
              <a:rPr lang="en-US" dirty="0" err="1"/>
              <a:t>df.head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37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36E8-4BA4-00C5-8153-B5EE18E09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Displaying the Last Few Rows with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df.tail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955F0-51A2-F851-1DB1-8F20EBB21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Syntax: </a:t>
            </a:r>
            <a:r>
              <a:rPr lang="en-US" sz="2000" dirty="0" err="1"/>
              <a:t>df.tail</a:t>
            </a:r>
            <a:r>
              <a:rPr lang="en-US" sz="2000" dirty="0"/>
              <a:t>()</a:t>
            </a:r>
            <a:endParaRPr lang="en-US" sz="20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By default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</a:rPr>
              <a:t>df.tail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() shows the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last 5 rows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of the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</a:rPr>
              <a:t>DataFrame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Why: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Inspect Data at the End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It helps verify that the data at the end of the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</a:rPr>
              <a:t>DataFrame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 is correct and not missing or corrupted.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Check for Trailing Errors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It is useful for detecting issues like trailing missing values, incorrect data entries, or extra rows.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Consistency Check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Helps ensure that the structure of data is consistent from top to bottom, especially after transformations.</a:t>
            </a:r>
          </a:p>
          <a:p>
            <a:r>
              <a:rPr lang="en-US" sz="2000" dirty="0"/>
              <a:t>Use:</a:t>
            </a:r>
          </a:p>
          <a:p>
            <a:pPr marL="457200" lvl="1" indent="0">
              <a:buNone/>
            </a:pPr>
            <a:r>
              <a:rPr lang="en-US" sz="2000" dirty="0" err="1"/>
              <a:t>df.tail</a:t>
            </a:r>
            <a:r>
              <a:rPr lang="en-US" sz="2000" dirty="0"/>
              <a:t>()  # Displays the last 5 rows by default</a:t>
            </a:r>
          </a:p>
          <a:p>
            <a:pPr marL="457200" lvl="1" indent="0">
              <a:buNone/>
            </a:pPr>
            <a:r>
              <a:rPr lang="en-US" sz="2000" dirty="0" err="1"/>
              <a:t>df.tail</a:t>
            </a:r>
            <a:r>
              <a:rPr lang="en-US" sz="2000" dirty="0"/>
              <a:t>(10)  # Displays the last 10 rows</a:t>
            </a:r>
          </a:p>
        </p:txBody>
      </p:sp>
    </p:spTree>
    <p:extLst>
      <p:ext uri="{BB962C8B-B14F-4D97-AF65-F5344CB8AC3E}">
        <p14:creationId xmlns:p14="http://schemas.microsoft.com/office/powerpoint/2010/main" val="4200537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2E9FC-DB80-92CF-8C09-7FB438A4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Basic Statistical Summary with describe()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0BE4E-4F52-C7D4-1A83-4705230CC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Syntax: </a:t>
            </a:r>
            <a:r>
              <a:rPr lang="en-US" sz="2000" dirty="0" err="1"/>
              <a:t>df.describe</a:t>
            </a:r>
            <a:r>
              <a:rPr lang="en-US" sz="2000" dirty="0"/>
              <a:t>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 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</a:rPr>
              <a:t>df.describe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() provides a basic statistical summary of the numerical columns in the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</a:rPr>
              <a:t>DataFrame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, offering key insights into the central tendency, spread, and overall distribution of the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By default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</a:rPr>
              <a:t>df.describe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() computes summary statistics for all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numerical columns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(e.g., integers, floats).</a:t>
            </a:r>
          </a:p>
          <a:p>
            <a:pPr algn="l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Why: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Quick Summary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Provides an overview of key metrics like mean, median, standard deviation, and more for numerical data.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Detect Outliers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By examining metrics like min/max, you can quickly identify potential outliers or unusual values.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Assess Data Distribution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Helps understand the spread and distribution of the data, which is critical for later analysis and modeling.</a:t>
            </a:r>
          </a:p>
          <a:p>
            <a:pPr lvl="1"/>
            <a:endParaRPr lang="en-US" sz="20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74375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2E9FC-DB80-92CF-8C09-7FB438A4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Basic Statistical Summary with describe()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0BE4E-4F52-C7D4-1A83-4705230CC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Metrics Provided:</a:t>
            </a:r>
          </a:p>
          <a:p>
            <a:pPr lvl="1"/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Count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: The number of non-null entries in each column.</a:t>
            </a:r>
          </a:p>
          <a:p>
            <a:pPr lvl="1"/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Mean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: The average value of the column.</a:t>
            </a:r>
          </a:p>
          <a:p>
            <a:pPr lvl="1"/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Standard Deviation (std)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: The spread or variability of the values.</a:t>
            </a:r>
          </a:p>
          <a:p>
            <a:pPr lvl="1"/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Min/Max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: The smallest and largest values in the column.</a:t>
            </a:r>
          </a:p>
          <a:p>
            <a:pPr lvl="1"/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25%, 50%, 75% (Quartiles)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: The values at the 25th, 50th (median), and 75th percentiles.</a:t>
            </a:r>
          </a:p>
          <a:p>
            <a:r>
              <a:rPr lang="en-US" sz="1800" b="1" dirty="0">
                <a:solidFill>
                  <a:srgbClr val="000000"/>
                </a:solidFill>
              </a:rPr>
              <a:t>Output:</a:t>
            </a:r>
          </a:p>
          <a:p>
            <a:pPr marL="914400" lvl="2" indent="0">
              <a:buNone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             col1       	col2</a:t>
            </a:r>
          </a:p>
          <a:p>
            <a:pPr marL="914400" lvl="2" indent="0">
              <a:buNone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count  150.000000  150.000000</a:t>
            </a:r>
          </a:p>
          <a:p>
            <a:pPr marL="914400" lvl="2" indent="0">
              <a:buNone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mean     5.843333    3.054000</a:t>
            </a:r>
          </a:p>
          <a:p>
            <a:pPr marL="914400" lvl="2" indent="0">
              <a:buNone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std      0.828066    0.433594</a:t>
            </a:r>
          </a:p>
          <a:p>
            <a:pPr marL="914400" lvl="2" indent="0">
              <a:buNone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min      4.300000    2.000000</a:t>
            </a:r>
          </a:p>
          <a:p>
            <a:pPr marL="914400" lvl="2" indent="0">
              <a:buNone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25%      5.100000    2.800000</a:t>
            </a:r>
          </a:p>
          <a:p>
            <a:pPr marL="914400" lvl="2" indent="0">
              <a:buNone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50%      5.800000    3.000000</a:t>
            </a:r>
          </a:p>
          <a:p>
            <a:pPr marL="914400" lvl="2" indent="0">
              <a:buNone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75%      6.400000    3.300000</a:t>
            </a:r>
          </a:p>
          <a:p>
            <a:pPr marL="914400" lvl="2" indent="0">
              <a:buNone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max      7.900000    4.400000</a:t>
            </a:r>
          </a:p>
        </p:txBody>
      </p:sp>
    </p:spTree>
    <p:extLst>
      <p:ext uri="{BB962C8B-B14F-4D97-AF65-F5344CB8AC3E}">
        <p14:creationId xmlns:p14="http://schemas.microsoft.com/office/powerpoint/2010/main" val="3906748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4F75-B3D4-2452-7101-644D090D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Exploring Unique Values with </a:t>
            </a:r>
            <a:r>
              <a:rPr lang="en-US" dirty="0" err="1"/>
              <a:t>nunique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300F6-3FEF-2FDA-F332-DFF6BDA37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Syntax: </a:t>
            </a:r>
            <a:r>
              <a:rPr lang="en-US" sz="2000" i="0" u="none" strike="noStrike" dirty="0" err="1">
                <a:solidFill>
                  <a:srgbClr val="000000"/>
                </a:solidFill>
                <a:effectLst/>
              </a:rPr>
              <a:t>df.nunique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 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</a:rPr>
              <a:t>df.nunique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() is used to count the number of unique values in each column of the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</a:rPr>
              <a:t>DataFrame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, providing insight into the variability and uniqueness of the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By default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</a:rPr>
              <a:t>df.nunique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() returns the number of unique values for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each column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, both numerical and categorical.</a:t>
            </a:r>
          </a:p>
          <a:p>
            <a:pPr algn="l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Why It's Important: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Assess Data Diversity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Helps you understand the diversity in the data for each column, such as how many unique categories exist in a categorical column.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Detect Data Anomalies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If a column has fewer unique values than expected (e.g., repeated data), it may indicate errors or redundant data.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Feature Engineering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Can guide decisions on whether a column should be treated as categorical or numerical during model building</a:t>
            </a:r>
          </a:p>
        </p:txBody>
      </p:sp>
    </p:spTree>
    <p:extLst>
      <p:ext uri="{BB962C8B-B14F-4D97-AF65-F5344CB8AC3E}">
        <p14:creationId xmlns:p14="http://schemas.microsoft.com/office/powerpoint/2010/main" val="3425580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4F75-B3D4-2452-7101-644D090D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Exploring Unique Values with </a:t>
            </a:r>
            <a:r>
              <a:rPr lang="en-US" dirty="0" err="1"/>
              <a:t>nunique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300F6-3FEF-2FDA-F332-DFF6BDA373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Use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457200" lvl="1" indent="0">
              <a:buNone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</a:rPr>
              <a:t>df.nunique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()  # Returns the number of unique values in each column</a:t>
            </a:r>
          </a:p>
          <a:p>
            <a:pPr marL="457200" lvl="1" indent="0">
              <a:buNone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</a:rPr>
              <a:t>df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['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</a:rPr>
              <a:t>column_name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'].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</a:rPr>
              <a:t>nunique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()  # Returns the number of unique values in a specific column</a:t>
            </a:r>
          </a:p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Example Output</a:t>
            </a:r>
          </a:p>
          <a:p>
            <a:pPr marL="457200" lvl="1" indent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col1     100</a:t>
            </a:r>
          </a:p>
          <a:p>
            <a:pPr marL="457200" lvl="1" indent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col2      50</a:t>
            </a:r>
          </a:p>
          <a:p>
            <a:pPr marL="457200" lvl="1" indent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col3       5</a:t>
            </a:r>
          </a:p>
          <a:p>
            <a:pPr marL="457200" lvl="1" indent="0">
              <a:buNone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</a:rPr>
              <a:t>dtype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: int64</a:t>
            </a:r>
          </a:p>
          <a:p>
            <a:pPr algn="l"/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This output shows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lvl="1"/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col1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 has 100 unique values.</a:t>
            </a:r>
          </a:p>
          <a:p>
            <a:pPr lvl="1"/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col2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 has 50 unique values.</a:t>
            </a:r>
          </a:p>
          <a:p>
            <a:pPr lvl="1"/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col3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 (likely categorical) has only 5 unique values.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endParaRPr lang="en-US" sz="18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sz="1800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sz="18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E24C9-AB3E-B474-B95A-5DA6EC4C87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Will It Show All Columns?</a:t>
            </a:r>
          </a:p>
          <a:p>
            <a:pPr marL="0" indent="0">
              <a:buNone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</a:rPr>
              <a:t>df.nunique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() will display the unique value count for both 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numerical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categorical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 columns by default.</a:t>
            </a:r>
          </a:p>
          <a:p>
            <a:pPr marL="0" indent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To Include Only Certain Data Types:</a:t>
            </a:r>
          </a:p>
          <a:p>
            <a:pPr marL="0" indent="0" algn="l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You can specify whether to include only certain data types using the include argument:</a:t>
            </a:r>
          </a:p>
          <a:p>
            <a:pPr marL="0" indent="0" algn="l">
              <a:buNone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</a:rPr>
              <a:t>df.nunique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(include=['object', 'int64'])  # Only show unique counts for categorical (object) and integer columns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810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C81E-7C8A-B64B-6AA9-269604CF6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Selecting a Column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B33C1-5B62-02D0-4191-CFAF46E5F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Syntax: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chemeClr val="accent6"/>
                </a:solidFill>
              </a:rPr>
              <a:t>'</a:t>
            </a:r>
            <a:r>
              <a:rPr lang="en-US" dirty="0" err="1">
                <a:solidFill>
                  <a:schemeClr val="accent6"/>
                </a:solidFill>
              </a:rPr>
              <a:t>column_name</a:t>
            </a:r>
            <a:r>
              <a:rPr lang="en-US" dirty="0"/>
              <a:t>']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Retrieves data from a specific column. This is useful for selecting and working with specific features of the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835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EBFA-856F-C9DD-6B7B-E4CC5F8A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Selecting Multiple Columns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6BA81-9139-EC2B-6087-5837850C0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Syntax: </a:t>
            </a:r>
            <a:r>
              <a:rPr lang="en-US" dirty="0" err="1"/>
              <a:t>df</a:t>
            </a:r>
            <a:r>
              <a:rPr lang="en-US" dirty="0"/>
              <a:t>[[</a:t>
            </a:r>
            <a:r>
              <a:rPr lang="en-US" dirty="0">
                <a:solidFill>
                  <a:srgbClr val="00B050"/>
                </a:solidFill>
              </a:rPr>
              <a:t>'column1</a:t>
            </a:r>
            <a:r>
              <a:rPr lang="en-US" dirty="0"/>
              <a:t>', </a:t>
            </a:r>
            <a:r>
              <a:rPr lang="en-US" dirty="0">
                <a:solidFill>
                  <a:srgbClr val="00B050"/>
                </a:solidFill>
              </a:rPr>
              <a:t>'column2</a:t>
            </a:r>
            <a:r>
              <a:rPr lang="en-US" dirty="0"/>
              <a:t>’]]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Selects multiple columns from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This is helpful for extracting only relevant columns for analysis.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354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7C05-24D1-131F-6655-226A93AB4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Sorting Data with 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sort_values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CC747-4AA1-121A-2F5A-850A4C764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Syntax: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df.sort_values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(by=</a:t>
            </a:r>
            <a:r>
              <a:rPr lang="en-US" i="0" u="none" strike="noStrike" dirty="0">
                <a:solidFill>
                  <a:schemeClr val="accent6"/>
                </a:solidFill>
                <a:effectLst/>
              </a:rPr>
              <a:t>'</a:t>
            </a:r>
            <a:r>
              <a:rPr lang="en-US" i="0" u="none" strike="noStrike" dirty="0" err="1">
                <a:solidFill>
                  <a:schemeClr val="accent6"/>
                </a:solidFill>
                <a:effectLst/>
              </a:rPr>
              <a:t>column_name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', ascending=</a:t>
            </a:r>
            <a:r>
              <a:rPr lang="en-US" i="0" u="none" strike="noStrike" dirty="0">
                <a:solidFill>
                  <a:srgbClr val="0070C0"/>
                </a:solidFill>
                <a:effectLst/>
              </a:rPr>
              <a:t>False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Sorts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based on values in a specified column. You can set </a:t>
            </a:r>
            <a:r>
              <a:rPr lang="en-US" dirty="0"/>
              <a:t>ascending=True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for ascending order (default) or </a:t>
            </a:r>
            <a:r>
              <a:rPr lang="en-US" dirty="0"/>
              <a:t>ascending=False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for descending order.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1056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22A3-5CAB-BBDC-20D6-7E319F05F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Filtering Rows (Conditional Selection)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C02DF-A800-2A04-9CA3-317A0C8B3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Syntax: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df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[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df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[</a:t>
            </a:r>
            <a:r>
              <a:rPr lang="en-US" i="0" u="none" strike="noStrike" dirty="0">
                <a:solidFill>
                  <a:schemeClr val="accent6"/>
                </a:solidFill>
                <a:effectLst/>
              </a:rPr>
              <a:t>'</a:t>
            </a:r>
            <a:r>
              <a:rPr lang="en-US" i="0" u="none" strike="noStrike" dirty="0" err="1">
                <a:solidFill>
                  <a:schemeClr val="accent6"/>
                </a:solidFill>
                <a:effectLst/>
              </a:rPr>
              <a:t>column_name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'] &gt; value]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Filters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based on a condition. It’s often used to select rows that meet certain criteria, such as values greater than a specific threshold, matching a specific category, or any other logical condition. For example, selecting rows where values in </a:t>
            </a:r>
            <a:r>
              <a:rPr lang="en-US" dirty="0" err="1"/>
              <a:t>column_name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are greater than a certain threshold.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9577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6D134-3F81-4EBF-6B62-31F85991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Identifying Categorical Data with 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astype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4895F-B562-17BE-CFCE-5D1BBDA2B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Syntax: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df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[</a:t>
            </a:r>
            <a:r>
              <a:rPr lang="en-US" i="0" u="none" strike="noStrike" dirty="0">
                <a:solidFill>
                  <a:srgbClr val="00B050"/>
                </a:solidFill>
                <a:effectLst/>
              </a:rPr>
              <a:t>'</a:t>
            </a:r>
            <a:r>
              <a:rPr lang="en-US" i="0" u="none" strike="noStrike" dirty="0" err="1">
                <a:solidFill>
                  <a:srgbClr val="00B050"/>
                </a:solidFill>
                <a:effectLst/>
              </a:rPr>
              <a:t>column_name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'] =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df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[</a:t>
            </a:r>
            <a:r>
              <a:rPr lang="en-US" i="0" u="none" strike="noStrike" dirty="0">
                <a:solidFill>
                  <a:srgbClr val="00B050"/>
                </a:solidFill>
                <a:effectLst/>
              </a:rPr>
              <a:t>'</a:t>
            </a:r>
            <a:r>
              <a:rPr lang="en-US" i="0" u="none" strike="noStrike" dirty="0" err="1">
                <a:solidFill>
                  <a:srgbClr val="00B050"/>
                </a:solidFill>
                <a:effectLst/>
              </a:rPr>
              <a:t>column_name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'].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astype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i="0" u="none" strike="noStrike" dirty="0">
                <a:solidFill>
                  <a:srgbClr val="00B050"/>
                </a:solidFill>
                <a:effectLst/>
              </a:rPr>
              <a:t>'category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')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Converts a column to a categorical data type, which is useful when you have a limited number of unique values and want to reduce memory usage or improve performance. Pandas treats categorical data differently than other types for operations like grouping or sorting.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Syntax: </a:t>
            </a:r>
            <a:r>
              <a:rPr lang="en-US" dirty="0" err="1"/>
              <a:t>df.groupby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'City</a:t>
            </a:r>
            <a:r>
              <a:rPr lang="en-US" dirty="0"/>
              <a:t>')[</a:t>
            </a:r>
            <a:r>
              <a:rPr lang="en-US" dirty="0">
                <a:solidFill>
                  <a:srgbClr val="00B050"/>
                </a:solidFill>
              </a:rPr>
              <a:t>'Age</a:t>
            </a:r>
            <a:r>
              <a:rPr lang="en-US" dirty="0"/>
              <a:t>'].mean()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7809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EA751-9F46-000F-6FE6-67D7CED45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Value Counts for Categorical Columns with </a:t>
            </a:r>
            <a:r>
              <a:rPr lang="en-US" dirty="0" err="1"/>
              <a:t>value_counts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46FCE-7B80-1705-0D05-C69FF6D81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Syntax: 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d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f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[</a:t>
            </a:r>
            <a:r>
              <a:rPr lang="en-US" i="0" u="none" strike="noStrike" dirty="0">
                <a:solidFill>
                  <a:srgbClr val="00B050"/>
                </a:solidFill>
                <a:effectLst/>
              </a:rPr>
              <a:t>'</a:t>
            </a:r>
            <a:r>
              <a:rPr lang="en-US" i="0" u="none" strike="noStrike" dirty="0" err="1">
                <a:solidFill>
                  <a:srgbClr val="00B050"/>
                </a:solidFill>
                <a:effectLst/>
              </a:rPr>
              <a:t>column_name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'].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value_counts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Shows the frequency of each unique value in a categorical column. This helps you understand the distribution of categories within the data, which is important for summarizing and analyzing categorical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365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C79AE-03E8-D337-3633-88805825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Normalize Frequency (Proportion) with 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value_counts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(normalize=True)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74AD1-0836-CAA2-55EE-EDB2F5FBF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Syntax</a:t>
            </a:r>
            <a:r>
              <a:rPr lang="en-US" dirty="0"/>
              <a:t>: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/>
              <a:t>'].</a:t>
            </a:r>
            <a:r>
              <a:rPr lang="en-US" dirty="0" err="1"/>
              <a:t>value_counts</a:t>
            </a:r>
            <a:r>
              <a:rPr lang="en-US" dirty="0"/>
              <a:t>(normalize=</a:t>
            </a:r>
            <a:r>
              <a:rPr lang="en-US" dirty="0">
                <a:solidFill>
                  <a:srgbClr val="0070C0"/>
                </a:solidFill>
              </a:rPr>
              <a:t>True</a:t>
            </a:r>
            <a:r>
              <a:rPr lang="en-US" dirty="0"/>
              <a:t>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Returns the proportion of each category relative to the total number of observations. This is useful when you want to see the percentage distribution rather than the absolute counts.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0217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3F5F9-72CF-E317-47BF-1A563AF0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Checking Column Data Type Specific Counts with </a:t>
            </a:r>
            <a:r>
              <a:rPr lang="en-US" dirty="0" err="1"/>
              <a:t>select_dtypes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6A748-61D9-12DA-E081-CEA324B21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Syntax: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df.select_dtypes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(include='number').count()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Selects columns based on data types and counts the non-null values in those columns. You can use </a:t>
            </a:r>
            <a:r>
              <a:rPr lang="en-US" dirty="0"/>
              <a:t>include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or </a:t>
            </a:r>
            <a:r>
              <a:rPr lang="en-US" dirty="0"/>
              <a:t>exclude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arguments to focus on specific types, like numbers, strings, or datetime objects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5134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EFDB-F5CB-896A-6EC5-C8BE1BAF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Grouping by Categorical Variables with </a:t>
            </a:r>
            <a:r>
              <a:rPr lang="en-US" dirty="0" err="1"/>
              <a:t>groupby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E3749-B106-1C0F-20BE-D505B8C3A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Syntax: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df.groupby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i="0" u="none" strike="noStrike" dirty="0">
                <a:solidFill>
                  <a:srgbClr val="00B050"/>
                </a:solidFill>
                <a:effectLst/>
              </a:rPr>
              <a:t>'</a:t>
            </a:r>
            <a:r>
              <a:rPr lang="en-US" i="0" u="none" strike="noStrike" dirty="0" err="1">
                <a:solidFill>
                  <a:srgbClr val="00B050"/>
                </a:solidFill>
                <a:effectLst/>
              </a:rPr>
              <a:t>column_name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').mean()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Groups the data by a categorical variable and applies an aggregation function (like </a:t>
            </a:r>
            <a:r>
              <a:rPr lang="en-US" dirty="0"/>
              <a:t>mean()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or </a:t>
            </a:r>
            <a:r>
              <a:rPr lang="en-US" dirty="0"/>
              <a:t>sum()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 to each group. This is useful for understanding relationships between categorical and numerical variables.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267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D418-F91C-C4FD-3458-A320F4F8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Sampling Data with sample()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EEBA2-1342-114F-F323-C2E19F061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Syntax: 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d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f_sampled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 =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df.sample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(frac=</a:t>
            </a:r>
            <a:r>
              <a:rPr lang="en-US" i="0" u="none" strike="noStrike" dirty="0">
                <a:solidFill>
                  <a:srgbClr val="FF0000"/>
                </a:solidFill>
                <a:effectLst/>
              </a:rPr>
              <a:t>0.1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Randomly samples a fraction (or a fixed number) of rows from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This is useful for testing or validating analysis on a smaller subset of the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420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96438-E365-DD2B-3A78-1C8D5B3E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Indexing by Date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89794-FA80-7CA7-A39A-E7B4125C9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Syntax: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df.set_index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i="0" u="none" strike="noStrike" dirty="0">
                <a:solidFill>
                  <a:srgbClr val="00B050"/>
                </a:solidFill>
                <a:effectLst/>
              </a:rPr>
              <a:t>'</a:t>
            </a:r>
            <a:r>
              <a:rPr lang="en-US" i="0" u="none" strike="noStrike" dirty="0" err="1">
                <a:solidFill>
                  <a:srgbClr val="00B050"/>
                </a:solidFill>
                <a:effectLst/>
              </a:rPr>
              <a:t>date_column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',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inplace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=</a:t>
            </a:r>
            <a:r>
              <a:rPr lang="en-US" i="0" u="none" strike="noStrike" dirty="0">
                <a:solidFill>
                  <a:srgbClr val="0070C0"/>
                </a:solidFill>
                <a:effectLst/>
              </a:rPr>
              <a:t>True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Sets a </a:t>
            </a:r>
            <a:r>
              <a:rPr lang="en-US" dirty="0"/>
              <a:t>datetime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column as the index, enabling time series analysis and operations like resampling, rolling averages,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6416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665C-A81E-9E7C-D047-B75C4B55D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Saving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DataFrame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 to CSV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8567B-D85F-4ECB-0739-035EE1701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Syntax</a:t>
            </a:r>
            <a:r>
              <a:rPr lang="en-US" dirty="0"/>
              <a:t>: </a:t>
            </a:r>
            <a:r>
              <a:rPr lang="en-US" dirty="0" err="1"/>
              <a:t>df.to_csv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file.csv</a:t>
            </a:r>
            <a:r>
              <a:rPr lang="en-US" dirty="0"/>
              <a:t>', index=</a:t>
            </a:r>
            <a:r>
              <a:rPr lang="en-US" dirty="0">
                <a:solidFill>
                  <a:srgbClr val="0070C0"/>
                </a:solidFill>
              </a:rPr>
              <a:t>False</a:t>
            </a:r>
            <a:r>
              <a:rPr lang="en-US" dirty="0"/>
              <a:t>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Saves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to a CSV file. The </a:t>
            </a:r>
            <a:r>
              <a:rPr lang="en-US" dirty="0"/>
              <a:t>index=False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option prevents the index from being written as a column in the file.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7666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BE86-6DEF-B279-8480-8BF77DA3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Data Visualizations During EDA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F0F6B-5992-D0DE-0E34-F48BBBF45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3700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69E8-068D-ED56-4913-1FDA2FFC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Key EDA Visualizations &amp;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D3B3B-C5E5-1327-7322-9527A2DD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Missing Value Heatmap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lvl="1"/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Visualizes missing values across the dataset.</a:t>
            </a:r>
          </a:p>
          <a:p>
            <a:pPr lvl="1"/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Interpretation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Identify where and how much data is missing to inform pre-processing steps later.</a:t>
            </a:r>
          </a:p>
          <a:p>
            <a:r>
              <a:rPr lang="en-US" sz="2000" b="1" dirty="0"/>
              <a:t>Histograms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Show the distribution of numerical variables.</a:t>
            </a:r>
          </a:p>
          <a:p>
            <a:pPr lvl="1"/>
            <a:r>
              <a:rPr lang="en-US" sz="2000" b="1" dirty="0"/>
              <a:t>Interpretation</a:t>
            </a:r>
            <a:r>
              <a:rPr lang="en-US" sz="2000" dirty="0"/>
              <a:t>: Identify the shape of the distribution, such as skewness or normality.</a:t>
            </a:r>
          </a:p>
          <a:p>
            <a:r>
              <a:rPr lang="en-US" sz="2000" b="1" dirty="0"/>
              <a:t>Boxplots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Help identify </a:t>
            </a:r>
            <a:r>
              <a:rPr lang="en-US" sz="2000" b="1" dirty="0"/>
              <a:t>outliers</a:t>
            </a:r>
            <a:r>
              <a:rPr lang="en-US" sz="2000" dirty="0"/>
              <a:t> and show the spread of the data (min, max, quartiles).</a:t>
            </a:r>
          </a:p>
          <a:p>
            <a:pPr lvl="1"/>
            <a:r>
              <a:rPr lang="en-US" sz="2000" b="1" dirty="0"/>
              <a:t>Interpretation</a:t>
            </a:r>
            <a:r>
              <a:rPr lang="en-US" sz="2000" dirty="0"/>
              <a:t>: Understand the central tendency and variability of the data and detect any outliers.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8817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69E8-068D-ED56-4913-1FDA2FFC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Key EDA Visualizations &amp;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D3B3B-C5E5-1327-7322-9527A2DD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 dirty="0"/>
              <a:t>Bar Charts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Used for visualizing </a:t>
            </a:r>
            <a:r>
              <a:rPr lang="en-US" sz="2000" b="1" dirty="0"/>
              <a:t>categorical variables</a:t>
            </a:r>
            <a:r>
              <a:rPr lang="en-US" sz="2000" dirty="0"/>
              <a:t>.</a:t>
            </a:r>
          </a:p>
          <a:p>
            <a:pPr lvl="1"/>
            <a:r>
              <a:rPr lang="en-US" sz="2000" b="1" dirty="0"/>
              <a:t>Interpretation</a:t>
            </a:r>
            <a:r>
              <a:rPr lang="en-US" sz="2000" dirty="0"/>
              <a:t>: See how frequently each category occurs and spot any imbalance.</a:t>
            </a:r>
          </a:p>
          <a:p>
            <a:r>
              <a:rPr lang="en-US" sz="2000" b="1" dirty="0"/>
              <a:t>Scatter Plots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Visualize relationships between two numerical variables.</a:t>
            </a:r>
          </a:p>
          <a:p>
            <a:pPr lvl="1"/>
            <a:r>
              <a:rPr lang="en-US" sz="2000" b="1" dirty="0"/>
              <a:t>Interpretation</a:t>
            </a:r>
            <a:r>
              <a:rPr lang="en-US" sz="2000" dirty="0"/>
              <a:t>: Identify correlations, trends, and potential outliers.</a:t>
            </a:r>
          </a:p>
          <a:p>
            <a:r>
              <a:rPr lang="en-US" sz="2000" b="1" dirty="0"/>
              <a:t>Correlation Matrix / Heatmap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Display pairwise correlations between numerical variables.</a:t>
            </a:r>
          </a:p>
          <a:p>
            <a:pPr lvl="1"/>
            <a:r>
              <a:rPr lang="en-US" sz="2000" b="1" dirty="0"/>
              <a:t>Interpretation</a:t>
            </a:r>
            <a:r>
              <a:rPr lang="en-US" sz="2000" dirty="0"/>
              <a:t>: Understand which variables are strongly correlated (positive or negative).</a:t>
            </a:r>
          </a:p>
          <a:p>
            <a:r>
              <a:rPr lang="en-US" sz="2000" b="1" dirty="0"/>
              <a:t>Pair Plots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A collection of scatter plots for multiple numerical variables.</a:t>
            </a:r>
          </a:p>
          <a:p>
            <a:pPr lvl="1"/>
            <a:r>
              <a:rPr lang="en-US" sz="2000" b="1" dirty="0"/>
              <a:t>Interpretation</a:t>
            </a:r>
            <a:r>
              <a:rPr lang="en-US" sz="2000" dirty="0"/>
              <a:t>: Quickly identify relationships between all pairs of features.</a:t>
            </a:r>
          </a:p>
          <a:p>
            <a:pPr marL="45720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255403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09F79-1A9A-73F2-59DE-C7FFEDD61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Heatmap for Missing 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31829-D547-2890-C050-777CB0352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heatmap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can also be used to visualize missing values. It provides a quick visual summary of which features have missing data and how much of the data is missing.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How to Interpret: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Blank spaces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indicate missing values.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Features with a lot of missing data will have larger blank areas, making them candidates for imputation or removal.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Example: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 heatmap of missing values can help identify patterns, like if a certain feature tends to have missing data when other features also do.</a:t>
            </a:r>
          </a:p>
          <a:p>
            <a:pPr marL="457200" lvl="1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sns.heatmap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df.isnull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(), cbar=False)</a:t>
            </a:r>
          </a:p>
          <a:p>
            <a:pPr marL="457200" lvl="1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plt.title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('Missing Values Heatmap')</a:t>
            </a:r>
          </a:p>
          <a:p>
            <a:pPr marL="457200" lvl="1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plt.show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</a:t>
            </a:r>
          </a:p>
          <a:p>
            <a:pPr lvl="1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575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7C4CE-2FC7-E897-A5C3-51BCBAEC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9D420-1F59-A8FC-EC6C-2A3E12F1F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histogram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is used to display the distribution of a single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numerical variable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by splitting the data into intervals (bins) and plotting the frequency of values in each bin.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How to Interpret: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Shape of the distribution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Look for whether the data is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normally distributed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(bell-shaped),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skewed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(left or right), or if it has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multiple peaks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(bimodal or multimodal).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Center and Spread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Where is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center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of the data (mean, median)? What is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spread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(range, variance)?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Outliers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Look for extreme values that appear far from the rest of the data.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Example: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If the histogram is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right-skewed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it suggests that most of the data points have low values, with a few having much higher values (e.g., income distribution).</a:t>
            </a:r>
          </a:p>
          <a:p>
            <a:pPr marL="914400" lvl="2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df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['age'].hist(bins=20)</a:t>
            </a:r>
          </a:p>
          <a:p>
            <a:pPr marL="914400" lvl="2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plt.title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('Age Distribution')</a:t>
            </a:r>
          </a:p>
          <a:p>
            <a:pPr marL="914400" lvl="2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plt.show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</a:t>
            </a:r>
          </a:p>
          <a:p>
            <a:pPr marL="0" indent="0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8410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5C7E-7DB4-7A20-EA0F-FD6C2166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Boxplot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681E8-7314-2112-D9B7-F54BBA245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boxplot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(or box-and-whisker plot) summarizes the distribution of a numerical variable by displaying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median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quartiles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potential outliers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 It's particularly useful for detecting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outliers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 understanding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spread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of the data.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How to Interpret: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Box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The box represents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interquartile range (IQR)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which contains the middle 50% of the data (from Q1 to Q3).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Median (Q2)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The line inside the box shows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median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of the data.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Whiskers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These extend from the box to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minimum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maximum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data points that aren’t considered outliers.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Outliers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Data points plotted as individual dots beyond the whiskers are considered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outliers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Example: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If a boxplot of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income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shows a long upper whisker and several outlier dots, this indicates that there are a few people with extremely high incomes.</a:t>
            </a:r>
          </a:p>
          <a:p>
            <a:pPr marL="914400" lvl="2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sns.boxplot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df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['income'])</a:t>
            </a:r>
          </a:p>
          <a:p>
            <a:pPr marL="914400" lvl="2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plt.title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('Income Distribution')</a:t>
            </a:r>
          </a:p>
          <a:p>
            <a:pPr marL="914400" lvl="2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plt.show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</a:t>
            </a:r>
          </a:p>
          <a:p>
            <a:pPr marL="914400" lvl="2" indent="0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9138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408BC-E115-F96B-D697-F6269C762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Bar 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69EFA-295E-4B3D-3011-AE04F5F39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bar plot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is used for displaying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frequency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of categories within 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categorical variable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 It visualizes how often each category occurs in the dataset.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How to Interpret: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Frequency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The height of each bar represents the number of occurrences of each category.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Category Imbalance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If one category dominates the plot, it suggests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class imbalance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which can be problematic for certain machine learning models.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Example: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 bar plot for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gender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 a dataset may show more males than females, which could indicate a gender imbalance.</a:t>
            </a:r>
          </a:p>
          <a:p>
            <a:pPr marL="457200" lvl="1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df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['gender'].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value_counts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().plot(kind='bar')</a:t>
            </a:r>
          </a:p>
          <a:p>
            <a:pPr marL="457200" lvl="1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plt.title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('Gender Distribution')</a:t>
            </a:r>
          </a:p>
          <a:p>
            <a:pPr marL="457200" lvl="1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plt.show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</a:t>
            </a:r>
          </a:p>
          <a:p>
            <a:pPr marL="457200" lvl="1" indent="0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0258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EB48-E7CA-4D4E-EF29-155E052E4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Scatter 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8355C-B0AF-6EB8-EFD2-B1ACC192D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scatter plot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shows the relationship between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two numerical variables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plotting each data point as a dot on a two-dimensional plane (x, y coordinates).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How to Interpret: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Correlation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Look for patterns. 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positive correlation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(upward slope) indicates that as one variable increases, the other also increases. 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negative correlation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(downward slope) indicates that as one increases, the other decreases.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Clusters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If the points form distinct groups, there may be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clusters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 the data.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Outliers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Points far away from the general pattern indicate potential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outliers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Example: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 scatter plot between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age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income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could show a positive correlation, indicating that older individuals tend to have higher incomes.</a:t>
            </a:r>
          </a:p>
          <a:p>
            <a:pPr marL="914400" lvl="2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sns.scatterplot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(x='age', y='income', data=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df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marL="914400" lvl="2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plt.title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('Scatter Plot of Age vs Income')</a:t>
            </a:r>
          </a:p>
          <a:p>
            <a:pPr marL="914400" lvl="2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plt.show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</a:t>
            </a:r>
          </a:p>
          <a:p>
            <a:pPr marL="914400" lvl="2" indent="0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8083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97A10-8BAE-4B0B-5132-3E1889A5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Correlation Matrix / Heatmap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42695-1384-E152-178D-3859634C3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correlation matrix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shows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pairwise correlation coefficients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between numerical variables. 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heatmap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visually represents the correlation matrix with colors.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How to Interpret: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Correlation Coefficient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Values range from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-1 to 1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1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indicates a perfect positive correlation.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-1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indicates a perfect negative correlation.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0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indicates no correlation.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Heatmap Colors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Darker colors (e.g., red) can represent strong positive correlations, while lighter colors (e.g., blue) represent strong negative correlations.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Example: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 correlation matrix between features like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age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income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experience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can help you see which features are strongly correlated and may be redundant.</a:t>
            </a:r>
          </a:p>
          <a:p>
            <a:pPr marL="914400" lvl="2" indent="0">
              <a:buNone/>
            </a:pPr>
            <a:r>
              <a:rPr lang="en-US" dirty="0" err="1"/>
              <a:t>sns.heatmap</a:t>
            </a:r>
            <a:r>
              <a:rPr lang="en-US" dirty="0"/>
              <a:t>(</a:t>
            </a:r>
            <a:r>
              <a:rPr lang="en-US" dirty="0" err="1"/>
              <a:t>df.corr</a:t>
            </a:r>
            <a:r>
              <a:rPr lang="en-US" dirty="0"/>
              <a:t>(), </a:t>
            </a:r>
            <a:r>
              <a:rPr lang="en-US" dirty="0" err="1"/>
              <a:t>annot</a:t>
            </a:r>
            <a:r>
              <a:rPr lang="en-US" dirty="0"/>
              <a:t>=True, </a:t>
            </a:r>
            <a:r>
              <a:rPr lang="en-US" dirty="0" err="1"/>
              <a:t>cmap</a:t>
            </a:r>
            <a:r>
              <a:rPr lang="en-US" dirty="0"/>
              <a:t>='</a:t>
            </a:r>
            <a:r>
              <a:rPr lang="en-US" dirty="0" err="1"/>
              <a:t>coolwarm</a:t>
            </a:r>
            <a:r>
              <a:rPr lang="en-US" dirty="0"/>
              <a:t>')</a:t>
            </a:r>
          </a:p>
          <a:p>
            <a:pPr marL="914400" lvl="2" indent="0">
              <a:buNone/>
            </a:pPr>
            <a:r>
              <a:rPr lang="en-US" dirty="0" err="1"/>
              <a:t>plt.title</a:t>
            </a:r>
            <a:r>
              <a:rPr lang="en-US" dirty="0"/>
              <a:t>('Correlation Matrix')</a:t>
            </a:r>
          </a:p>
          <a:p>
            <a:pPr marL="914400" lvl="2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760555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44CE0-4F71-5C5E-FBE5-95B0DFF3F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Pair 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B27E1-60B5-2BE3-B3E7-A1DC8E637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pair plot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creates scatter plots between multiple numerical variables simultaneously, helping visualize relationships between pairs of variables. It can also plot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distribution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of each variable on the diagonal.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How to Interpret: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Diagonals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These are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univariate distributions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(histograms) of each variable.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Off-diagonals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These are scatter plots showing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bivariate relationships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between pairs of variables.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Patterns/Clusters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Look for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linear relationships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clusters, or outliers across multiple features.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Example: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If you have multiple features like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age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income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experience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 pair plot will show how each pair relates, and give insights into correlations between variables.</a:t>
            </a:r>
          </a:p>
          <a:p>
            <a:pPr marL="914400" lvl="2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sns.pairplot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df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[['age', 'income', 'experience']])</a:t>
            </a:r>
          </a:p>
          <a:p>
            <a:pPr marL="914400" lvl="2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plt.title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('Pair Plot of Age, Income, and Experience')</a:t>
            </a:r>
          </a:p>
          <a:p>
            <a:pPr marL="914400" lvl="2" indent="0">
              <a:buNone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plt.show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08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84E5-C6A3-F1E7-7679-7460BC761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Suggested Visualization 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ABE1-81BF-337F-0F9F-15D9594CF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Missing Value Heatmap</a:t>
            </a:r>
            <a:r>
              <a:rPr lang="en-US" sz="2400" dirty="0"/>
              <a:t> → Detect missing data to inform future steps.</a:t>
            </a:r>
          </a:p>
          <a:p>
            <a:r>
              <a:rPr lang="en-US" sz="2400" b="1" dirty="0"/>
              <a:t>Histograms</a:t>
            </a:r>
            <a:r>
              <a:rPr lang="en-US" sz="2400" dirty="0"/>
              <a:t> → Assess individual numerical variable distributions.</a:t>
            </a:r>
          </a:p>
          <a:p>
            <a:r>
              <a:rPr lang="en-US" sz="2400" b="1" dirty="0"/>
              <a:t>Bar Charts</a:t>
            </a:r>
            <a:r>
              <a:rPr lang="en-US" sz="2400" dirty="0"/>
              <a:t> → Explore frequencies of categorical variables.</a:t>
            </a:r>
          </a:p>
          <a:p>
            <a:r>
              <a:rPr lang="en-US" sz="2400" b="1" dirty="0"/>
              <a:t>Boxplots</a:t>
            </a:r>
            <a:r>
              <a:rPr lang="en-US" sz="2400" dirty="0"/>
              <a:t> → Identify outliers and variability in numerical data.</a:t>
            </a:r>
          </a:p>
          <a:p>
            <a:r>
              <a:rPr lang="en-US" sz="2400" b="1" dirty="0"/>
              <a:t>Scatter Plots</a:t>
            </a:r>
            <a:r>
              <a:rPr lang="en-US" sz="2400" dirty="0"/>
              <a:t> → Explore relationships between two numerical variables.</a:t>
            </a:r>
          </a:p>
          <a:p>
            <a:r>
              <a:rPr lang="en-US" sz="2400" b="1" dirty="0"/>
              <a:t>Correlation Matrix / Heatmap</a:t>
            </a:r>
            <a:r>
              <a:rPr lang="en-US" sz="2400" dirty="0"/>
              <a:t> → Analyze correlations between multiple variables.</a:t>
            </a:r>
          </a:p>
          <a:p>
            <a:r>
              <a:rPr lang="en-US" sz="2400" b="1" dirty="0"/>
              <a:t>Pair Plots</a:t>
            </a:r>
            <a:r>
              <a:rPr lang="en-US" sz="2400" dirty="0"/>
              <a:t> → Visualize multiple relationships across numerical variables.</a:t>
            </a:r>
          </a:p>
        </p:txBody>
      </p:sp>
    </p:spTree>
    <p:extLst>
      <p:ext uri="{BB962C8B-B14F-4D97-AF65-F5344CB8AC3E}">
        <p14:creationId xmlns:p14="http://schemas.microsoft.com/office/powerpoint/2010/main" val="24302352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AE20AD-52C6-9F9F-2E5F-4D330518D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Issues during EDA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FAD0A1-F409-F671-8360-8F562D8CE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4720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0B0F-FC5E-AF78-DA8A-9DB14DAF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Presence of Missing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DA8EF-30CE-1C9E-93AC-05C16A7B4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Syntax: </a:t>
            </a:r>
            <a:r>
              <a:rPr lang="en-US" dirty="0" err="1"/>
              <a:t>df.isnull</a:t>
            </a:r>
            <a:r>
              <a:rPr lang="en-US" dirty="0"/>
              <a:t>().sum()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Identifies missing (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 values in the dataset. The </a:t>
            </a:r>
            <a:r>
              <a:rPr lang="en-US" dirty="0"/>
              <a:t>sum()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function gives the total number of missing values for each column.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0245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C959-67EB-6D4F-FA65-C6863147E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Renaming Columns with rename()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38A4-34EC-2241-803C-C1AADBBED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Syntax: </a:t>
            </a:r>
            <a:r>
              <a:rPr lang="en-US" dirty="0" err="1"/>
              <a:t>df.rename</a:t>
            </a:r>
            <a:r>
              <a:rPr lang="en-US" dirty="0"/>
              <a:t>(columns={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old_name</a:t>
            </a:r>
            <a:r>
              <a:rPr lang="en-US" dirty="0"/>
              <a:t>': 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new_name</a:t>
            </a:r>
            <a:r>
              <a:rPr lang="en-US" dirty="0"/>
              <a:t>'}, </a:t>
            </a:r>
            <a:r>
              <a:rPr lang="en-US" dirty="0" err="1"/>
              <a:t>inplace</a:t>
            </a:r>
            <a:r>
              <a:rPr lang="en-US" dirty="0"/>
              <a:t>=True)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Renames columns in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The </a:t>
            </a:r>
            <a:r>
              <a:rPr lang="en-US" dirty="0" err="1"/>
              <a:t>inplace</a:t>
            </a:r>
            <a:r>
              <a:rPr lang="en-US" dirty="0"/>
              <a:t>=True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argument ensures that the changes are made directly to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3313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9231-636C-600B-DFDA-7CCB7C45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Dropping Columns or Rows with drop()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8B741-C1DA-32BB-6F59-DB7C66692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Syntax: </a:t>
            </a:r>
            <a:r>
              <a:rPr lang="en-US" dirty="0" err="1"/>
              <a:t>df.drop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/>
              <a:t>', axis=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, </a:t>
            </a:r>
            <a:r>
              <a:rPr lang="en-US" dirty="0" err="1"/>
              <a:t>inplace</a:t>
            </a:r>
            <a:r>
              <a:rPr lang="en-US" dirty="0"/>
              <a:t>=</a:t>
            </a:r>
            <a:r>
              <a:rPr lang="en-US" dirty="0">
                <a:solidFill>
                  <a:srgbClr val="0070C0"/>
                </a:solidFill>
              </a:rPr>
              <a:t>True</a:t>
            </a:r>
            <a:r>
              <a:rPr lang="en-US" dirty="0"/>
              <a:t>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Drops (removes) a column (</a:t>
            </a:r>
            <a:r>
              <a:rPr lang="en-US" dirty="0"/>
              <a:t>axis=1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 or row (</a:t>
            </a:r>
            <a:r>
              <a:rPr lang="en-US" dirty="0"/>
              <a:t>axis=0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 from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The </a:t>
            </a:r>
            <a:r>
              <a:rPr lang="en-US" dirty="0" err="1"/>
              <a:t>inplace</a:t>
            </a:r>
            <a:r>
              <a:rPr lang="en-US" dirty="0"/>
              <a:t>=True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argument applies the change directly.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3781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C3AFF-0E6C-7F7B-07AC-E5CFBB79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Resetting the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FFB99-C5FE-CDE2-D0B3-35AF31A63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Syntax: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df.reset_index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(drop=</a:t>
            </a:r>
            <a:r>
              <a:rPr lang="en-US" i="0" u="none" strike="noStrike" dirty="0">
                <a:solidFill>
                  <a:srgbClr val="0070C0"/>
                </a:solidFill>
                <a:effectLst/>
              </a:rPr>
              <a:t>True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inplace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=</a:t>
            </a:r>
            <a:r>
              <a:rPr lang="en-US" i="0" u="none" strike="noStrike" dirty="0">
                <a:solidFill>
                  <a:srgbClr val="0070C0"/>
                </a:solidFill>
                <a:effectLst/>
              </a:rPr>
              <a:t>True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Resets the index of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especially after filtering or modifying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 </a:t>
            </a:r>
            <a:r>
              <a:rPr lang="en-US" dirty="0"/>
              <a:t>drop=True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removes the old index from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DataFrame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avoids it being added as a new column.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9916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2548D-218B-B379-8F40-EF8D1E57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Extra Columns or Misaligned Columns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6C62-7E21-54CA-9523-381558B43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Cause</a:t>
            </a:r>
            <a:r>
              <a:rPr lang="en-US" dirty="0"/>
              <a:t>: Some CSV files may have extra or misaligned columns due to incorrect delimiters or extra commas.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Solution</a:t>
            </a:r>
            <a:r>
              <a:rPr lang="en-US" dirty="0" err="1"/>
              <a:t>:Check</a:t>
            </a:r>
            <a:r>
              <a:rPr lang="en-US" dirty="0"/>
              <a:t> if the file contains inconsistent delimiters or unnecessary columns.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 </a:t>
            </a:r>
            <a:r>
              <a:rPr lang="en-US" dirty="0" err="1"/>
              <a:t>usecols</a:t>
            </a:r>
            <a:r>
              <a:rPr lang="en-US" dirty="0"/>
              <a:t> to specify only the columns you need.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('</a:t>
            </a:r>
            <a:r>
              <a:rPr lang="en-US" dirty="0" err="1"/>
              <a:t>file.csv</a:t>
            </a:r>
            <a:r>
              <a:rPr lang="en-US" dirty="0"/>
              <a:t>', </a:t>
            </a:r>
            <a:r>
              <a:rPr lang="en-US" dirty="0" err="1"/>
              <a:t>usecols</a:t>
            </a:r>
            <a:r>
              <a:rPr lang="en-US" dirty="0"/>
              <a:t>=[</a:t>
            </a:r>
            <a:r>
              <a:rPr lang="en-US" dirty="0">
                <a:solidFill>
                  <a:srgbClr val="00B050"/>
                </a:solidFill>
              </a:rPr>
              <a:t>'Column1</a:t>
            </a:r>
            <a:r>
              <a:rPr lang="en-US" dirty="0"/>
              <a:t>', 'Column2', </a:t>
            </a:r>
            <a:r>
              <a:rPr lang="en-US" dirty="0">
                <a:solidFill>
                  <a:srgbClr val="00B050"/>
                </a:solidFill>
              </a:rPr>
              <a:t>'Column3</a:t>
            </a:r>
            <a:r>
              <a:rPr lang="en-US" dirty="0"/>
              <a:t>'])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4766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6908F-38B2-EED2-7EBB-CEC7FA6B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Categorical Data Issues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28316-7B24-FBC5-8604-02B02334D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Cause</a:t>
            </a:r>
            <a:r>
              <a:rPr lang="en-US" sz="2400" dirty="0"/>
              <a:t>: Categorical variables may have too many unique values or may be improperly formatted for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Solution</a:t>
            </a:r>
            <a:r>
              <a:rPr lang="en-US" sz="2400" dirty="0"/>
              <a:t>: Convert categorical variables to numerical form using techniques like one-hot encoding, label encoding, or frequency encoding.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Example</a:t>
            </a:r>
            <a:r>
              <a:rPr lang="en-US" sz="2400" dirty="0"/>
              <a:t>:</a:t>
            </a:r>
          </a:p>
          <a:p>
            <a:pPr marL="457200" lvl="1" indent="0">
              <a:buNone/>
            </a:pPr>
            <a:r>
              <a:rPr lang="en-US" dirty="0"/>
              <a:t># One-hot encode categorical variables</a:t>
            </a:r>
          </a:p>
          <a:p>
            <a:pPr marL="457200" lvl="1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pd.get_dummies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, columns=[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category_column</a:t>
            </a:r>
            <a:r>
              <a:rPr lang="en-US" dirty="0"/>
              <a:t>']</a:t>
            </a:r>
          </a:p>
          <a:p>
            <a:pPr marL="457200" lvl="1" indent="0">
              <a:buNone/>
            </a:pPr>
            <a:r>
              <a:rPr lang="en-US" dirty="0"/>
              <a:t># Label encode for ordinal variables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sklearn.preprocessing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LabelEncoder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le = </a:t>
            </a:r>
            <a:r>
              <a:rPr lang="en-US" dirty="0" err="1"/>
              <a:t>LabelEncoder</a:t>
            </a:r>
            <a:r>
              <a:rPr lang="en-US" dirty="0"/>
              <a:t>()</a:t>
            </a:r>
          </a:p>
          <a:p>
            <a:pPr marL="457200" lvl="1" indent="0">
              <a:buNone/>
            </a:pP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category_column</a:t>
            </a:r>
            <a:r>
              <a:rPr lang="en-US" dirty="0"/>
              <a:t>'] = </a:t>
            </a:r>
            <a:r>
              <a:rPr lang="en-US" dirty="0" err="1"/>
              <a:t>le.fit_transform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category_column</a:t>
            </a:r>
            <a:r>
              <a:rPr lang="en-US" dirty="0"/>
              <a:t>'])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032887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F89B7-B989-BB01-C82C-AD485DF6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Inconsistent Data Types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5A2DDA-F0B4-8A0B-9F4C-55C0D781B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Cause</a:t>
            </a:r>
            <a:r>
              <a:rPr lang="en-US" sz="2400" dirty="0"/>
              <a:t>: Columns may contain mixed types (e.g., strings and numbers), or categorical data might be incorrectly read as strings. This can cause problems when performing mathematical operations.</a:t>
            </a:r>
          </a:p>
          <a:p>
            <a:r>
              <a:rPr lang="en-US" sz="2400" b="1" dirty="0" err="1"/>
              <a:t>Solution</a:t>
            </a:r>
            <a:r>
              <a:rPr lang="en-US" sz="2400" dirty="0" err="1"/>
              <a:t>:Use</a:t>
            </a:r>
            <a:r>
              <a:rPr lang="en-US" sz="2400" dirty="0"/>
              <a:t> </a:t>
            </a:r>
            <a:r>
              <a:rPr lang="en-US" sz="2400" dirty="0" err="1"/>
              <a:t>astype</a:t>
            </a:r>
            <a:r>
              <a:rPr lang="en-US" sz="2400" dirty="0"/>
              <a:t>() to convert data types or </a:t>
            </a:r>
            <a:r>
              <a:rPr lang="en-US" sz="2400" dirty="0" err="1"/>
              <a:t>pd.to_numeric</a:t>
            </a:r>
            <a:r>
              <a:rPr lang="en-US" sz="2400" dirty="0"/>
              <a:t>() for numerical columns and </a:t>
            </a:r>
            <a:r>
              <a:rPr lang="en-US" sz="2400" dirty="0" err="1"/>
              <a:t>pd.to_datetime</a:t>
            </a:r>
            <a:r>
              <a:rPr lang="en-US" sz="2400" dirty="0"/>
              <a:t>() for date columns.</a:t>
            </a:r>
          </a:p>
          <a:p>
            <a:r>
              <a:rPr lang="en-US" sz="2400" b="1" dirty="0"/>
              <a:t>Example</a:t>
            </a:r>
            <a:r>
              <a:rPr lang="en-US" sz="2400" dirty="0"/>
              <a:t>:</a:t>
            </a:r>
          </a:p>
          <a:p>
            <a:pPr marL="457200" lvl="1" indent="0">
              <a:buNone/>
            </a:pPr>
            <a:r>
              <a:rPr lang="en-US" dirty="0"/>
              <a:t># Convert a column to numeric type</a:t>
            </a:r>
          </a:p>
          <a:p>
            <a:pPr marL="457200" lvl="1" indent="0">
              <a:buNone/>
            </a:pP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numeric_column</a:t>
            </a:r>
            <a:r>
              <a:rPr lang="en-US" dirty="0"/>
              <a:t>'] = </a:t>
            </a:r>
            <a:r>
              <a:rPr lang="en-US" dirty="0" err="1"/>
              <a:t>pd.to_numeric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numeric_column</a:t>
            </a:r>
            <a:r>
              <a:rPr lang="en-US" dirty="0"/>
              <a:t>'], errors='coerce')</a:t>
            </a:r>
          </a:p>
          <a:p>
            <a:pPr marL="457200" lvl="1" indent="0">
              <a:buNone/>
            </a:pPr>
            <a:r>
              <a:rPr lang="en-US" dirty="0"/>
              <a:t># Convert a column to datetime</a:t>
            </a:r>
          </a:p>
          <a:p>
            <a:pPr marL="457200" lvl="1" indent="0">
              <a:buNone/>
            </a:pP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date_column</a:t>
            </a:r>
            <a:r>
              <a:rPr lang="en-US" dirty="0"/>
              <a:t>'] = </a:t>
            </a:r>
            <a:r>
              <a:rPr lang="en-US" dirty="0" err="1"/>
              <a:t>pd.to_datetime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date_column</a:t>
            </a:r>
            <a:r>
              <a:rPr lang="en-US" dirty="0"/>
              <a:t>'], errors='coerce')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02774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73D391-8488-FDED-3237-2C5E7336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Presence of Outliers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FF3454-F750-93BB-4C7F-C445170ED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Cause</a:t>
            </a:r>
            <a:r>
              <a:rPr lang="en-US" sz="2400" dirty="0"/>
              <a:t>: Extreme values can distort statistical summaries and visualizations.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Solution</a:t>
            </a:r>
            <a:r>
              <a:rPr lang="en-US" sz="2400" dirty="0"/>
              <a:t>: Identify outliers using statistical methods (e.g., IQR or Z-score) or visualizations (boxplots, histograms).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Either remove or treat outliers by capping, transformation, or robust statistical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Example</a:t>
            </a:r>
            <a:r>
              <a:rPr lang="en-US" sz="2400" dirty="0"/>
              <a:t>:</a:t>
            </a:r>
          </a:p>
          <a:p>
            <a:pPr marL="457200" lvl="1" indent="0">
              <a:buNone/>
            </a:pPr>
            <a:r>
              <a:rPr lang="en-US" dirty="0"/>
              <a:t># Identify outliers using IQR</a:t>
            </a:r>
          </a:p>
          <a:p>
            <a:pPr marL="457200" lvl="1" indent="0">
              <a:buNone/>
            </a:pPr>
            <a:r>
              <a:rPr lang="en-US" dirty="0"/>
              <a:t>Q1 = </a:t>
            </a:r>
            <a:r>
              <a:rPr lang="en-US" dirty="0" err="1"/>
              <a:t>df</a:t>
            </a:r>
            <a:r>
              <a:rPr lang="en-US" dirty="0"/>
              <a:t>['column'].quantile(</a:t>
            </a:r>
            <a:r>
              <a:rPr lang="en-US" dirty="0">
                <a:solidFill>
                  <a:srgbClr val="FF0000"/>
                </a:solidFill>
              </a:rPr>
              <a:t>0.25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Q3 = </a:t>
            </a:r>
            <a:r>
              <a:rPr lang="en-US" dirty="0" err="1"/>
              <a:t>df</a:t>
            </a:r>
            <a:r>
              <a:rPr lang="en-US" dirty="0"/>
              <a:t>['column'].quantile(</a:t>
            </a:r>
            <a:r>
              <a:rPr lang="en-US" dirty="0">
                <a:solidFill>
                  <a:srgbClr val="FF0000"/>
                </a:solidFill>
              </a:rPr>
              <a:t>0.75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IQR = Q3 - Q1</a:t>
            </a:r>
          </a:p>
          <a:p>
            <a:pPr marL="457200" lvl="1" indent="0">
              <a:buNone/>
            </a:pPr>
            <a:r>
              <a:rPr lang="en-US" dirty="0" err="1"/>
              <a:t>df_outliers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[(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'column</a:t>
            </a:r>
            <a:r>
              <a:rPr lang="en-US" dirty="0"/>
              <a:t>'] &lt; (Q1 - </a:t>
            </a:r>
            <a:r>
              <a:rPr lang="en-US" dirty="0">
                <a:solidFill>
                  <a:srgbClr val="FF0000"/>
                </a:solidFill>
              </a:rPr>
              <a:t>1.5</a:t>
            </a:r>
            <a:r>
              <a:rPr lang="en-US" dirty="0"/>
              <a:t> * IQR)) | (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'column</a:t>
            </a:r>
            <a:r>
              <a:rPr lang="en-US" dirty="0"/>
              <a:t>'] &gt; (Q3 + </a:t>
            </a:r>
            <a:r>
              <a:rPr lang="en-US" dirty="0">
                <a:solidFill>
                  <a:srgbClr val="FF0000"/>
                </a:solidFill>
              </a:rPr>
              <a:t>1.5</a:t>
            </a:r>
            <a:r>
              <a:rPr lang="en-US" dirty="0"/>
              <a:t> * IQR))]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36332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A678-ED24-0942-3AF9-BBDE0864F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String Formatting Issues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0B975-F4BA-5DF2-237B-A6323EB1C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Cause</a:t>
            </a:r>
            <a:r>
              <a:rPr lang="en-US" dirty="0"/>
              <a:t>: Strings might contain unwanted characters (e.g., currency symbols, commas, or spaces) that prevent conversion to numeric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Solution</a:t>
            </a:r>
            <a:r>
              <a:rPr lang="en-US" dirty="0"/>
              <a:t>: Use </a:t>
            </a:r>
            <a:r>
              <a:rPr lang="en-US" dirty="0" err="1"/>
              <a:t>str.replace</a:t>
            </a:r>
            <a:r>
              <a:rPr lang="en-US" dirty="0"/>
              <a:t>() or </a:t>
            </a:r>
            <a:r>
              <a:rPr lang="en-US" dirty="0" err="1"/>
              <a:t>str.strip</a:t>
            </a:r>
            <a:r>
              <a:rPr lang="en-US" dirty="0"/>
              <a:t>() to clean the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# Remove dollar signs and commas from a column</a:t>
            </a:r>
          </a:p>
          <a:p>
            <a:pPr marL="457200" lvl="1" indent="0">
              <a:buNone/>
            </a:pP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'Price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'Price</a:t>
            </a:r>
            <a:r>
              <a:rPr lang="en-US" dirty="0"/>
              <a:t>'].</a:t>
            </a:r>
            <a:r>
              <a:rPr lang="en-US" dirty="0" err="1"/>
              <a:t>str.replace</a:t>
            </a:r>
            <a:r>
              <a:rPr lang="en-US" dirty="0"/>
              <a:t>('[$,]', '', regex=True)</a:t>
            </a:r>
          </a:p>
          <a:p>
            <a:pPr marL="457200" lvl="1" indent="0">
              <a:buNone/>
            </a:pP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'Price</a:t>
            </a:r>
            <a:r>
              <a:rPr lang="en-US" dirty="0"/>
              <a:t>'] = </a:t>
            </a:r>
            <a:r>
              <a:rPr lang="en-US" dirty="0" err="1"/>
              <a:t>pd.to_numeric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'Price</a:t>
            </a:r>
            <a:r>
              <a:rPr lang="en-US" dirty="0"/>
              <a:t>'], errors='coerce')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3955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B01BF-C511-9A4E-FCF2-799017C9F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Presence of Duplicates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FA62A-D4FD-0A23-C973-BC4A93F48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Syntax: </a:t>
            </a:r>
            <a:r>
              <a:rPr lang="en-US" dirty="0" err="1"/>
              <a:t>df.duplicated</a:t>
            </a:r>
            <a:r>
              <a:rPr lang="en-US" dirty="0"/>
              <a:t>().sum()</a:t>
            </a:r>
          </a:p>
          <a:p>
            <a:r>
              <a:rPr lang="en-US" b="1" dirty="0"/>
              <a:t>Cause</a:t>
            </a:r>
            <a:r>
              <a:rPr lang="en-US" dirty="0"/>
              <a:t>: Duplicate rows can distort summary statistics or lead to biased analysis.</a:t>
            </a:r>
          </a:p>
          <a:p>
            <a:r>
              <a:rPr lang="en-US" b="1" dirty="0"/>
              <a:t>Solution</a:t>
            </a:r>
            <a:r>
              <a:rPr lang="en-US" dirty="0"/>
              <a:t>: Use duplicated() to identify duplicate rows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7094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20E0-4735-E6C8-6A42-7815529F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Handling Non-Numeric Values in a Numeric Column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F4884-BFD2-2910-66B7-EB31DF591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If a numeric column has invalid strings like </a:t>
            </a:r>
            <a:r>
              <a:rPr lang="en-US" dirty="0"/>
              <a:t>"N/A"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n-US" dirty="0"/>
              <a:t>"unknown"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or other text that can’t be converted directly, you can first clean these values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Replace Invalid Strings with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NaN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</a:t>
            </a: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/>
              <a:t>'].replace([</a:t>
            </a:r>
            <a:r>
              <a:rPr lang="en-US" dirty="0">
                <a:solidFill>
                  <a:srgbClr val="00B050"/>
                </a:solidFill>
              </a:rPr>
              <a:t>'N/A', 'unknown</a:t>
            </a:r>
            <a:r>
              <a:rPr lang="en-US" dirty="0"/>
              <a:t>'], </a:t>
            </a:r>
            <a:r>
              <a:rPr lang="en-US" dirty="0" err="1"/>
              <a:t>np.nan</a:t>
            </a:r>
            <a:r>
              <a:rPr lang="en-US" dirty="0"/>
              <a:t>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Convert to Numeric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</a:t>
            </a:r>
          </a:p>
          <a:p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/>
              <a:t>'] = </a:t>
            </a:r>
            <a:r>
              <a:rPr lang="en-US" dirty="0" err="1"/>
              <a:t>pd.to_numeric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/>
              <a:t>'], errors=</a:t>
            </a:r>
            <a:r>
              <a:rPr lang="en-US" dirty="0">
                <a:solidFill>
                  <a:srgbClr val="00B050"/>
                </a:solidFill>
              </a:rPr>
              <a:t>'coerce</a:t>
            </a:r>
            <a:r>
              <a:rPr lang="en-US" dirty="0"/>
              <a:t>')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752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5DF5-2174-E396-D05B-0ECA7448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Parsing Multiple Date Formats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41AA6-66B1-465A-E55E-3E5BF027E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Sometimes date columns contain mixed formats (e.g., </a:t>
            </a:r>
            <a:r>
              <a:rPr lang="en-US" dirty="0"/>
              <a:t>YYYY-MM-DD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and </a:t>
            </a:r>
            <a:r>
              <a:rPr lang="en-US" dirty="0"/>
              <a:t>MM/DD/YYYY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). Pandas can handle this using </a:t>
            </a:r>
            <a:r>
              <a:rPr lang="en-US" dirty="0" err="1"/>
              <a:t>pd.to_datetime</a:t>
            </a:r>
            <a:r>
              <a:rPr lang="en-US" dirty="0"/>
              <a:t>()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without specifying the format.</a:t>
            </a:r>
          </a:p>
          <a:p>
            <a:r>
              <a:rPr lang="en-US" b="1" dirty="0"/>
              <a:t>Syntax</a:t>
            </a:r>
            <a:r>
              <a:rPr lang="en-US" dirty="0"/>
              <a:t>: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'Date</a:t>
            </a:r>
            <a:r>
              <a:rPr lang="en-US" dirty="0"/>
              <a:t>'] = </a:t>
            </a:r>
            <a:r>
              <a:rPr lang="en-US" dirty="0" err="1"/>
              <a:t>pd.to_datetime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'Date</a:t>
            </a:r>
            <a:r>
              <a:rPr lang="en-US" dirty="0"/>
              <a:t>'], errors=</a:t>
            </a:r>
            <a:r>
              <a:rPr lang="en-US" dirty="0">
                <a:solidFill>
                  <a:srgbClr val="00B050"/>
                </a:solidFill>
              </a:rPr>
              <a:t>'coerce</a:t>
            </a:r>
            <a:r>
              <a:rPr lang="en-US" dirty="0"/>
              <a:t>')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Automatically parses mixed date formats and converts valid entries to </a:t>
            </a:r>
            <a:r>
              <a:rPr lang="en-US" dirty="0"/>
              <a:t>datetime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while invalid ones become </a:t>
            </a:r>
            <a:r>
              <a:rPr lang="en-US" dirty="0" err="1"/>
              <a:t>NaN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642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2EB62-17B6-99D0-C8AE-9B2F8D9F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Handling Data with Percentages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31830-4F30-6BAF-033D-508801E86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If a column contains percentage values stored as strings (e.g., </a:t>
            </a:r>
            <a:r>
              <a:rPr lang="en-US" dirty="0"/>
              <a:t>"25%"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), you can clean and convert them to floats.</a:t>
            </a:r>
          </a:p>
          <a:p>
            <a:r>
              <a:rPr lang="en-US" b="1" dirty="0"/>
              <a:t>Syntax</a:t>
            </a:r>
            <a:r>
              <a:rPr lang="en-US" dirty="0"/>
              <a:t>: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'Percentage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'Percentage</a:t>
            </a:r>
            <a:r>
              <a:rPr lang="en-US" dirty="0"/>
              <a:t>'].</a:t>
            </a:r>
            <a:r>
              <a:rPr lang="en-US" dirty="0" err="1">
                <a:solidFill>
                  <a:srgbClr val="FFC000"/>
                </a:solidFill>
              </a:rPr>
              <a:t>str</a:t>
            </a:r>
            <a:r>
              <a:rPr lang="en-US" dirty="0" err="1"/>
              <a:t>.rstrip</a:t>
            </a:r>
            <a:r>
              <a:rPr lang="en-US" dirty="0"/>
              <a:t>('</a:t>
            </a:r>
            <a:r>
              <a:rPr lang="en-US" dirty="0">
                <a:solidFill>
                  <a:srgbClr val="0070C0"/>
                </a:solidFill>
              </a:rPr>
              <a:t>%</a:t>
            </a:r>
            <a:r>
              <a:rPr lang="en-US" dirty="0"/>
              <a:t>').</a:t>
            </a:r>
            <a:r>
              <a:rPr lang="en-US" dirty="0" err="1"/>
              <a:t>astype</a:t>
            </a:r>
            <a:r>
              <a:rPr lang="en-US" dirty="0"/>
              <a:t>('float') / </a:t>
            </a:r>
            <a:r>
              <a:rPr lang="en-US" dirty="0">
                <a:solidFill>
                  <a:srgbClr val="FF0000"/>
                </a:solidFill>
              </a:rPr>
              <a:t>100.0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Removes the percentage symbol and divides by 100 to convert the string into a decimal (e.g., </a:t>
            </a:r>
            <a:r>
              <a:rPr lang="en-US" dirty="0"/>
              <a:t>"25%"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becomes </a:t>
            </a:r>
            <a:r>
              <a:rPr lang="en-US" dirty="0"/>
              <a:t>0.25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6304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5A7C-5F96-E3CD-4C6A-7CE5B3F3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Handling Boolean Strings (e.g., 'True'/'False')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494F9-26C7-0948-8278-1D75565A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When dealing with columns where values are </a:t>
            </a:r>
            <a:r>
              <a:rPr lang="en-US" dirty="0"/>
              <a:t>'True'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and </a:t>
            </a:r>
            <a:r>
              <a:rPr lang="en-US" dirty="0"/>
              <a:t>'False'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as strings, you should convert them to actual Boolean types:</a:t>
            </a:r>
          </a:p>
          <a:p>
            <a:r>
              <a:rPr lang="en-US" b="1" dirty="0"/>
              <a:t>Syntax: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/>
              <a:t>'].map({'</a:t>
            </a:r>
            <a:r>
              <a:rPr lang="en-US" dirty="0">
                <a:solidFill>
                  <a:srgbClr val="00B050"/>
                </a:solidFill>
              </a:rPr>
              <a:t>True</a:t>
            </a:r>
            <a:r>
              <a:rPr lang="en-US" dirty="0"/>
              <a:t>': </a:t>
            </a:r>
            <a:r>
              <a:rPr lang="en-US" dirty="0">
                <a:solidFill>
                  <a:srgbClr val="0070C0"/>
                </a:solidFill>
              </a:rPr>
              <a:t>True</a:t>
            </a:r>
            <a:r>
              <a:rPr lang="en-US" dirty="0"/>
              <a:t>, '</a:t>
            </a:r>
            <a:r>
              <a:rPr lang="en-US" dirty="0">
                <a:solidFill>
                  <a:srgbClr val="00B050"/>
                </a:solidFill>
              </a:rPr>
              <a:t>False</a:t>
            </a:r>
            <a:r>
              <a:rPr lang="en-US" dirty="0"/>
              <a:t>': </a:t>
            </a:r>
            <a:r>
              <a:rPr lang="en-US" dirty="0">
                <a:solidFill>
                  <a:srgbClr val="0070C0"/>
                </a:solidFill>
              </a:rPr>
              <a:t>False</a:t>
            </a:r>
            <a:r>
              <a:rPr lang="en-US" dirty="0"/>
              <a:t>})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Purpose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Converts strings to actual Boolean values (</a:t>
            </a:r>
            <a:r>
              <a:rPr lang="en-US" dirty="0"/>
              <a:t>True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n-US" dirty="0"/>
              <a:t>False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), which can be more efficiently processed in Boolean operations or conditional logic.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2271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7DF5-AD54-4508-4C48-B24E2EC1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In-Class, Small Group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94A5-7957-EA7B-1A4A-6499C0E78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9539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DDDE06-88EB-4BDD-2F4D-0E5C0AB4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67A3C-BA97-9AE4-85AB-B0824483E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705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A82622-E93E-9C5E-A169-4B00AB04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Common Data Overview Syntax</a:t>
            </a:r>
          </a:p>
        </p:txBody>
      </p:sp>
      <p:pic>
        <p:nvPicPr>
          <p:cNvPr id="3" name="Picture 2" descr="A table with text on it&#10;&#10;Description automatically generated">
            <a:extLst>
              <a:ext uri="{FF2B5EF4-FFF2-40B4-BE49-F238E27FC236}">
                <a16:creationId xmlns:a16="http://schemas.microsoft.com/office/drawing/2014/main" id="{B2AF6239-01AC-CFEF-E13B-FD7CDADBD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054" y="1223636"/>
            <a:ext cx="6780700" cy="403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010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A82622-E93E-9C5E-A169-4B00AB04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Common Univariate Analysis Syntax</a:t>
            </a: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43A6B22-F7B5-2618-377F-6F458CF24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088495"/>
            <a:ext cx="6780700" cy="467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623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A82622-E93E-9C5E-A169-4B00AB04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Common Bivariate Analysis Syntax</a:t>
            </a: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2F6DB23-DE44-BA6A-822B-07EAC1E3B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063067"/>
            <a:ext cx="6780700" cy="472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611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A82622-E93E-9C5E-A169-4B00AB04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Common Multivariate Analysis Syntax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D7F928C-E151-2717-248F-E4BCA7DEB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17266"/>
            <a:ext cx="6780700" cy="522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20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5357</TotalTime>
  <Words>5929</Words>
  <Application>Microsoft Office PowerPoint</Application>
  <PresentationFormat>Widescreen</PresentationFormat>
  <Paragraphs>466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Aptos</vt:lpstr>
      <vt:lpstr>Aptos Display</vt:lpstr>
      <vt:lpstr>Arial</vt:lpstr>
      <vt:lpstr>-webkit-standard</vt:lpstr>
      <vt:lpstr>Office Theme</vt:lpstr>
      <vt:lpstr>Step 3: Data Exploration and Understanding</vt:lpstr>
      <vt:lpstr>Step 2: Data Collection</vt:lpstr>
      <vt:lpstr>Step 2: Data Collection</vt:lpstr>
      <vt:lpstr>Approaching ML Syntax vs. Algorithm-Heavy Programming: A Practical Guide</vt:lpstr>
      <vt:lpstr>Focus on Model Application, Not Algorithmic Details</vt:lpstr>
      <vt:lpstr>Practicality Over Efficiency</vt:lpstr>
      <vt:lpstr>Emphasize Iteration and Experimentation</vt:lpstr>
      <vt:lpstr>Focus on the Entire ML Workflow</vt:lpstr>
      <vt:lpstr>Understand That Algorithms Are Abstracted Away</vt:lpstr>
      <vt:lpstr>ML Workflow Step 3: Data Exploration and Understanding</vt:lpstr>
      <vt:lpstr>Preliminary Setup</vt:lpstr>
      <vt:lpstr>Loading Data with read_csv()</vt:lpstr>
      <vt:lpstr>Steps for EDA in the Understanding Stage</vt:lpstr>
      <vt:lpstr>Overview of Data (Initial Exploration)</vt:lpstr>
      <vt:lpstr>Univariate Analysis (Understanding Individual Variables)</vt:lpstr>
      <vt:lpstr>Univariate Concerns</vt:lpstr>
      <vt:lpstr>Bivariate Analysis (Exploring Relationships Between Pairs of Variables)</vt:lpstr>
      <vt:lpstr>Bivariate Concerns</vt:lpstr>
      <vt:lpstr>Multivariate Analysis (Exploring Relationships Among Multiple Variables)</vt:lpstr>
      <vt:lpstr>Multivariate Concerns</vt:lpstr>
      <vt:lpstr>Common EDA Syntax</vt:lpstr>
      <vt:lpstr>Checking the Shape of the DataFrame</vt:lpstr>
      <vt:lpstr>Viewing Data Types with info()</vt:lpstr>
      <vt:lpstr>Example Output</vt:lpstr>
      <vt:lpstr>Displaying the First Few Rows with head()</vt:lpstr>
      <vt:lpstr>Displaying the First Few Rows with head()</vt:lpstr>
      <vt:lpstr>Displaying the Last Few Rows with df.tail()</vt:lpstr>
      <vt:lpstr>Basic Statistical Summary with describe()</vt:lpstr>
      <vt:lpstr>Basic Statistical Summary with describe()</vt:lpstr>
      <vt:lpstr>Exploring Unique Values with nunique()</vt:lpstr>
      <vt:lpstr>Exploring Unique Values with nunique()</vt:lpstr>
      <vt:lpstr>Selecting a Column</vt:lpstr>
      <vt:lpstr>Selecting Multiple Columns</vt:lpstr>
      <vt:lpstr>Sorting Data with sort_values()</vt:lpstr>
      <vt:lpstr>Filtering Rows (Conditional Selection)</vt:lpstr>
      <vt:lpstr>Identifying Categorical Data with astype()</vt:lpstr>
      <vt:lpstr>Value Counts for Categorical Columns with value_counts()</vt:lpstr>
      <vt:lpstr>Normalize Frequency (Proportion) with value_counts(normalize=True)</vt:lpstr>
      <vt:lpstr>Checking Column Data Type Specific Counts with select_dtypes()</vt:lpstr>
      <vt:lpstr>Grouping by Categorical Variables with groupby()</vt:lpstr>
      <vt:lpstr>Sampling Data with sample()</vt:lpstr>
      <vt:lpstr>Indexing by Date</vt:lpstr>
      <vt:lpstr>Saving DataFrame to CSV</vt:lpstr>
      <vt:lpstr>Common Data Visualizations During EDA</vt:lpstr>
      <vt:lpstr>Key EDA Visualizations &amp; Techniques</vt:lpstr>
      <vt:lpstr>Key EDA Visualizations &amp; Techniques</vt:lpstr>
      <vt:lpstr>Heatmap for Missing Values</vt:lpstr>
      <vt:lpstr>Histogram</vt:lpstr>
      <vt:lpstr>Boxplot</vt:lpstr>
      <vt:lpstr>Bar Plot</vt:lpstr>
      <vt:lpstr>Scatter Plot</vt:lpstr>
      <vt:lpstr>Correlation Matrix / Heatmap</vt:lpstr>
      <vt:lpstr>Pair Plot</vt:lpstr>
      <vt:lpstr>Suggested Visualization Flow</vt:lpstr>
      <vt:lpstr>Common Issues during EDA</vt:lpstr>
      <vt:lpstr>Presence of Missing Data</vt:lpstr>
      <vt:lpstr>Renaming Columns with rename()</vt:lpstr>
      <vt:lpstr>Dropping Columns or Rows with drop()</vt:lpstr>
      <vt:lpstr>Resetting the Index</vt:lpstr>
      <vt:lpstr>Extra Columns or Misaligned Columns</vt:lpstr>
      <vt:lpstr>Categorical Data Issues</vt:lpstr>
      <vt:lpstr>Inconsistent Data Types</vt:lpstr>
      <vt:lpstr>Presence of Outliers</vt:lpstr>
      <vt:lpstr>String Formatting Issues</vt:lpstr>
      <vt:lpstr>Presence of Duplicates</vt:lpstr>
      <vt:lpstr>Handling Non-Numeric Values in a Numeric Column</vt:lpstr>
      <vt:lpstr>Parsing Multiple Date Formats</vt:lpstr>
      <vt:lpstr>Handling Data with Percentages</vt:lpstr>
      <vt:lpstr>Handling Boolean Strings (e.g., 'True'/'False')</vt:lpstr>
      <vt:lpstr>In-Class, Small Group Activity</vt:lpstr>
      <vt:lpstr>Appendix</vt:lpstr>
      <vt:lpstr>Common Data Overview Syntax</vt:lpstr>
      <vt:lpstr>Common Univariate Analysis Syntax</vt:lpstr>
      <vt:lpstr>Common Bivariate Analysis Syntax</vt:lpstr>
      <vt:lpstr>Common Multivariate Analysis Syntax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Atkinson</dc:creator>
  <cp:lastModifiedBy>Soham Sachin Joshi (Student)</cp:lastModifiedBy>
  <cp:revision>41</cp:revision>
  <dcterms:created xsi:type="dcterms:W3CDTF">2024-05-25T19:37:13Z</dcterms:created>
  <dcterms:modified xsi:type="dcterms:W3CDTF">2024-09-18T23:20:46Z</dcterms:modified>
</cp:coreProperties>
</file>